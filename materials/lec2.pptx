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7" r:id="rId2"/>
    <p:sldId id="370" r:id="rId3"/>
    <p:sldId id="365" r:id="rId4"/>
    <p:sldId id="366" r:id="rId5"/>
    <p:sldId id="367" r:id="rId6"/>
    <p:sldId id="368" r:id="rId7"/>
    <p:sldId id="371" r:id="rId8"/>
    <p:sldId id="258" r:id="rId9"/>
    <p:sldId id="355" r:id="rId10"/>
    <p:sldId id="356" r:id="rId11"/>
    <p:sldId id="357" r:id="rId12"/>
    <p:sldId id="358" r:id="rId13"/>
    <p:sldId id="360" r:id="rId14"/>
    <p:sldId id="359" r:id="rId15"/>
    <p:sldId id="361" r:id="rId16"/>
    <p:sldId id="362" r:id="rId17"/>
    <p:sldId id="363" r:id="rId18"/>
    <p:sldId id="364" r:id="rId19"/>
    <p:sldId id="369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79" r:id="rId28"/>
    <p:sldId id="380" r:id="rId29"/>
    <p:sldId id="381" r:id="rId30"/>
    <p:sldId id="383" r:id="rId31"/>
    <p:sldId id="382" r:id="rId32"/>
    <p:sldId id="384" r:id="rId33"/>
    <p:sldId id="385" r:id="rId34"/>
    <p:sldId id="386" r:id="rId35"/>
    <p:sldId id="387" r:id="rId36"/>
    <p:sldId id="388" r:id="rId37"/>
    <p:sldId id="389" r:id="rId38"/>
    <p:sldId id="390" r:id="rId39"/>
    <p:sldId id="391" r:id="rId40"/>
    <p:sldId id="392" r:id="rId41"/>
    <p:sldId id="393" r:id="rId42"/>
    <p:sldId id="394" r:id="rId43"/>
    <p:sldId id="395" r:id="rId44"/>
    <p:sldId id="396" r:id="rId45"/>
    <p:sldId id="397" r:id="rId46"/>
    <p:sldId id="398" r:id="rId47"/>
    <p:sldId id="399" r:id="rId48"/>
    <p:sldId id="400" r:id="rId49"/>
    <p:sldId id="401" r:id="rId50"/>
    <p:sldId id="402" r:id="rId51"/>
    <p:sldId id="403" r:id="rId52"/>
    <p:sldId id="404" r:id="rId53"/>
    <p:sldId id="405" r:id="rId54"/>
    <p:sldId id="406" r:id="rId55"/>
    <p:sldId id="407" r:id="rId56"/>
    <p:sldId id="408" r:id="rId57"/>
    <p:sldId id="409" r:id="rId58"/>
    <p:sldId id="410" r:id="rId59"/>
    <p:sldId id="411" r:id="rId60"/>
    <p:sldId id="412" r:id="rId61"/>
    <p:sldId id="413" r:id="rId62"/>
    <p:sldId id="414" r:id="rId63"/>
    <p:sldId id="354" r:id="rId6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64"/>
    <p:restoredTop sz="94753"/>
  </p:normalViewPr>
  <p:slideViewPr>
    <p:cSldViewPr snapToGrid="0">
      <p:cViewPr varScale="1">
        <p:scale>
          <a:sx n="188" d="100"/>
          <a:sy n="188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09461D-2BD3-CB4E-9775-19A635C9F5EE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19B14-26C7-2D4D-AC6F-2FA250E17A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07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19B14-26C7-2D4D-AC6F-2FA250E17A8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447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19B14-26C7-2D4D-AC6F-2FA250E17A8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173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79a232354da44e74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79a232354da44e74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7A7376-E0AD-6AEF-817D-B2A7BBB6A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C6C807-0525-A2BC-85E2-024005F39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9E414D-F724-05F5-7E55-2CBF26CA9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5D33-0B9E-504A-8C8F-26426748A0F7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BBBFE1-B470-48EA-AC1C-E8562232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F5797A-1ABC-9255-7573-6A60B074B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CE517-F06D-6042-B069-9FCF47C313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8189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BD1A9-66E3-6E9E-44AB-1E6F744B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C2DFE4-3713-6E67-AD83-3E756DE06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0BDEF7-6A1B-82DB-ED77-C71EC731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5D33-0B9E-504A-8C8F-26426748A0F7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FC982-2B9F-6B3A-DB28-49E460F9A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976141-63F9-552D-D591-763CC625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CE517-F06D-6042-B069-9FCF47C313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662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55D51-B525-944C-2F16-C07FED48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DCD724-D3D3-231C-18C8-8C57E00F6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3B9EFA-8DD1-C9BB-9CE0-7CA57B76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5D33-0B9E-504A-8C8F-26426748A0F7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68D372-2EC3-FC8A-61E5-95D4D70F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91AED3-275B-D0AD-BD41-444FF361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CE517-F06D-6042-B069-9FCF47C313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31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0ADFC-041E-30D3-CB0B-84CEF839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6D17E2-B257-4947-C28B-BAE2E0194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CD5BD8-0798-AE8E-8E54-EB42F2C9C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101E99-0C8C-3B30-D67C-CB84BE61D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5D33-0B9E-504A-8C8F-26426748A0F7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99DA82-CBA5-3BDF-C26E-047B5D14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6E1099-C786-E6F8-7160-0514D20D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CE517-F06D-6042-B069-9FCF47C313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69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C3231-73EF-9270-0788-140E17643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5FC15A-A5A0-7B4F-C9F7-F2B6D0C8E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17B739-808B-4A80-1277-C80B01B1A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7662326-6C67-0130-6116-2A0914A60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4740ABE-10B0-AEDE-7076-E14634726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F875B6B-70AD-9F1A-91AD-AB6D9AF2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5D33-0B9E-504A-8C8F-26426748A0F7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CD5712-365B-3466-E60E-9FDCBE73D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4AC8E33-AE94-C516-5602-7281D7441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CE517-F06D-6042-B069-9FCF47C313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643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1517C5-203A-A230-A02A-902519E74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AFE7F6-54DD-B8C1-64AE-3FF01B544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5D33-0B9E-504A-8C8F-26426748A0F7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F24A01-B227-2B1F-D4B2-2C955F322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F9F196-6437-D178-514E-A3A876E7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CE517-F06D-6042-B069-9FCF47C313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053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D637DA4-37D4-F150-D03F-A2A9FC89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5D33-0B9E-504A-8C8F-26426748A0F7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8C33EDC-97BF-C1C0-7FA1-36D172DBD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E56BAC-B2C0-0D67-CB33-305B37D0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CE517-F06D-6042-B069-9FCF47C313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323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62C5D-65E7-F5C9-391C-C06F5A5A8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2F1AA1-C2DD-3649-71BF-724EF1A06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B71830-93A5-D8EF-BF22-3407B8017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F3FA59-E504-FABD-E51C-7D3C557D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5D33-0B9E-504A-8C8F-26426748A0F7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2483FD-55A4-C755-B295-A2A1B90B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9C6A3C-50B6-3B48-AE7B-19A3C7DD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CE517-F06D-6042-B069-9FCF47C313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23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046462-1014-6374-3E00-3D455F30D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8F694EA-C649-A975-3501-822797A8B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80DEFF-8E80-25F6-7C90-2BE96A995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8A46A3-319A-F4D3-30CD-241D5CF2C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5D33-0B9E-504A-8C8F-26426748A0F7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C63BFB-B144-23D2-9F7D-332DB6F0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D28381-617C-D461-2B51-BAA05D40E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CE517-F06D-6042-B069-9FCF47C313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734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7A914B-5F16-C5A3-2C7B-A3F5D460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E330986-F84B-709F-AA34-E99828BAA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A5DD99-8EED-B664-8DF1-C41E1DA7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5D33-0B9E-504A-8C8F-26426748A0F7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C982B5-3426-520D-1806-AA22B2F0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7EE17A-AD94-8798-F17E-CC22CF3E0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CE517-F06D-6042-B069-9FCF47C313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793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0613F01-6054-CC9C-8B61-ABD3FF805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82EBD4-5712-0B8F-9434-05963AE0D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260125-783B-61B1-2800-2612F3F4F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5D33-0B9E-504A-8C8F-26426748A0F7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1C482E-7758-31C4-BF6F-565B1408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D92D42-230D-1994-B805-D3FDE74D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CE517-F06D-6042-B069-9FCF47C313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658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06642-A57A-39CD-9FC0-C3D0D07F6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74DD95-C25D-3193-A5E5-8681F6D45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8F59CE-ED1C-C830-B97F-F58094CE0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B5D33-0B9E-504A-8C8F-26426748A0F7}" type="datetimeFigureOut">
              <a:rPr lang="ru-RU" smtClean="0"/>
              <a:t>02.04.2024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FF2580-DD8F-CF30-5B12-9A34A4691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CB9A1C-A74D-4653-B4F2-17A4A0DD6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CE517-F06D-6042-B069-9FCF47C313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425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A5B5084-59EA-EFF7-01D6-F454BD1E4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316" y="1133846"/>
            <a:ext cx="9646596" cy="922822"/>
          </a:xfrm>
        </p:spPr>
        <p:txBody>
          <a:bodyPr>
            <a:normAutofit/>
          </a:bodyPr>
          <a:lstStyle/>
          <a:p>
            <a:r>
              <a:rPr lang="en-US" b="1" dirty="0"/>
              <a:t>System Design</a:t>
            </a:r>
            <a:endParaRPr lang="ru-RU" b="1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264D698B-D6AA-8846-E2E6-284248E20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83" y="2282789"/>
            <a:ext cx="11140035" cy="446451"/>
          </a:xfrm>
        </p:spPr>
        <p:txBody>
          <a:bodyPr>
            <a:noAutofit/>
          </a:bodyPr>
          <a:lstStyle/>
          <a:p>
            <a:r>
              <a:rPr lang="ru-RU" sz="3600" dirty="0">
                <a:latin typeface="+mj-lt"/>
                <a:ea typeface="Nunito"/>
                <a:cs typeface="Nunito"/>
                <a:sym typeface="Nunito"/>
              </a:rPr>
              <a:t>Лекция 2: Масштабирование системы и </a:t>
            </a:r>
            <a:r>
              <a:rPr lang="en" sz="3600" dirty="0">
                <a:latin typeface="+mj-lt"/>
                <a:ea typeface="Nunito"/>
                <a:cs typeface="Nunito"/>
                <a:sym typeface="Nunito"/>
              </a:rPr>
              <a:t>Load Balancer</a:t>
            </a:r>
            <a:endParaRPr lang="en" sz="3600" dirty="0">
              <a:effectLst/>
              <a:latin typeface="+mj-lt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5F3767-0A9D-F237-71A7-63DCA7FDD5CE}"/>
              </a:ext>
            </a:extLst>
          </p:cNvPr>
          <p:cNvSpPr/>
          <p:nvPr/>
        </p:nvSpPr>
        <p:spPr>
          <a:xfrm>
            <a:off x="5115288" y="3181483"/>
            <a:ext cx="1961423" cy="7730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CS302</a:t>
            </a:r>
            <a:endParaRPr lang="ru-RU" sz="3600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49CA1706-23B5-E3A9-612E-411985B415D5}"/>
              </a:ext>
            </a:extLst>
          </p:cNvPr>
          <p:cNvSpPr txBox="1">
            <a:spLocks/>
          </p:cNvSpPr>
          <p:nvPr/>
        </p:nvSpPr>
        <p:spPr>
          <a:xfrm>
            <a:off x="1524000" y="4366364"/>
            <a:ext cx="9144000" cy="446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Артемий Мазаев</a:t>
            </a:r>
            <a:endParaRPr lang="en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FADC4A44-9B52-1022-4F0B-45A9A582033E}"/>
              </a:ext>
            </a:extLst>
          </p:cNvPr>
          <p:cNvSpPr txBox="1">
            <a:spLocks/>
          </p:cNvSpPr>
          <p:nvPr/>
        </p:nvSpPr>
        <p:spPr>
          <a:xfrm>
            <a:off x="1524000" y="4589590"/>
            <a:ext cx="9144000" cy="446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" sz="2000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EAB62A30-A441-ABA4-7D03-2239A3399186}"/>
              </a:ext>
            </a:extLst>
          </p:cNvPr>
          <p:cNvSpPr txBox="1">
            <a:spLocks/>
          </p:cNvSpPr>
          <p:nvPr/>
        </p:nvSpPr>
        <p:spPr>
          <a:xfrm>
            <a:off x="1524000" y="4812816"/>
            <a:ext cx="9144000" cy="446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+mj-lt"/>
              </a:rPr>
              <a:t>Компьютерные науки и прикладная математика</a:t>
            </a:r>
            <a:r>
              <a:rPr lang="en-US" dirty="0">
                <a:latin typeface="+mj-lt"/>
              </a:rPr>
              <a:t>, </a:t>
            </a:r>
            <a:r>
              <a:rPr lang="ru-RU" dirty="0">
                <a:latin typeface="+mj-lt"/>
              </a:rPr>
              <a:t>МАИ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7A41375-6A3D-C3F4-E3AC-EF2E43DEF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380" y="5399148"/>
            <a:ext cx="1127921" cy="122529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E68932C-C0B0-0BC9-65DF-C1D9F35F8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34614" y="5502081"/>
            <a:ext cx="1165663" cy="1122362"/>
          </a:xfrm>
          <a:prstGeom prst="rect">
            <a:avLst/>
          </a:prstGeom>
        </p:spPr>
      </p:pic>
      <p:sp>
        <p:nvSpPr>
          <p:cNvPr id="12" name="Google Shape;1042;p111">
            <a:extLst>
              <a:ext uri="{FF2B5EF4-FFF2-40B4-BE49-F238E27FC236}">
                <a16:creationId xmlns:a16="http://schemas.microsoft.com/office/drawing/2014/main" id="{92DB2C5A-D421-E7E1-BA70-BE4FB0294FE9}"/>
              </a:ext>
            </a:extLst>
          </p:cNvPr>
          <p:cNvSpPr txBox="1"/>
          <p:nvPr/>
        </p:nvSpPr>
        <p:spPr>
          <a:xfrm>
            <a:off x="7712766" y="5960438"/>
            <a:ext cx="4155868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733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ml-system-</a:t>
            </a:r>
            <a:r>
              <a:rPr lang="en-US" sz="1733" dirty="0" err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design.ru</a:t>
            </a:r>
            <a:r>
              <a:rPr lang="ru-RU" sz="1733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733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| </a:t>
            </a:r>
            <a:r>
              <a:rPr lang="ru-RU" sz="1733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Мазаев Артемий</a:t>
            </a:r>
            <a:endParaRPr sz="1467" dirty="0">
              <a:solidFill>
                <a:srgbClr val="434343"/>
              </a:solidFill>
            </a:endParaRPr>
          </a:p>
        </p:txBody>
      </p:sp>
      <p:sp>
        <p:nvSpPr>
          <p:cNvPr id="13" name="Google Shape;1042;p111">
            <a:extLst>
              <a:ext uri="{FF2B5EF4-FFF2-40B4-BE49-F238E27FC236}">
                <a16:creationId xmlns:a16="http://schemas.microsoft.com/office/drawing/2014/main" id="{9B5A0478-3A86-6CFF-6FC2-EA46EA32C4D9}"/>
              </a:ext>
            </a:extLst>
          </p:cNvPr>
          <p:cNvSpPr txBox="1"/>
          <p:nvPr/>
        </p:nvSpPr>
        <p:spPr>
          <a:xfrm>
            <a:off x="11139551" y="110362"/>
            <a:ext cx="729082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sz="1733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2024</a:t>
            </a:r>
            <a:endParaRPr sz="1467" dirty="0">
              <a:solidFill>
                <a:srgbClr val="4343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2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1"/>
    </mc:Choice>
    <mc:Fallback xmlns="">
      <p:transition spd="slow" advTm="86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0A8F17E-52B9-BCC2-2C1D-755ABE65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Масштабируемость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5D56DE4-FFBB-38D5-8940-323137E0B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28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2E5FA0-3C4A-CE31-34B6-70F51D79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Масштабируемость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CAA2E2-0FF3-6B4B-EEEA-C17B176F3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Масштабируемость</a:t>
            </a:r>
            <a:r>
              <a:rPr lang="ru-RU" dirty="0"/>
              <a:t> - это мера способности системы реагировать на изменения путем добавления или удаления ресурсов для удовлетворения потребностей.</a:t>
            </a:r>
          </a:p>
        </p:txBody>
      </p:sp>
    </p:spTree>
    <p:extLst>
      <p:ext uri="{BB962C8B-B14F-4D97-AF65-F5344CB8AC3E}">
        <p14:creationId xmlns:p14="http://schemas.microsoft.com/office/powerpoint/2010/main" val="2107822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8E7306-B5E6-3108-EFDF-1043C1BB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Масштабируемость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205B4D4-C03E-4F2E-7807-BE146EA640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269" y="1825625"/>
            <a:ext cx="480546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06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25E3D-1495-A66D-C600-ED865B24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Вертикальное масштабирование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0098B0-D434-1716-08BB-1F98F9ADC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Вертикальное масштабирование </a:t>
            </a:r>
            <a:r>
              <a:rPr lang="ru-RU" dirty="0"/>
              <a:t>- увеличивает мощность системы путем добавления ресурсов к существующей машине, улучшая тем самым возможности приложения.</a:t>
            </a:r>
          </a:p>
          <a:p>
            <a:pPr marL="0" indent="0">
              <a:buNone/>
            </a:pPr>
            <a:r>
              <a:rPr lang="ru-RU" b="1" dirty="0"/>
              <a:t>Преимущества:</a:t>
            </a:r>
          </a:p>
          <a:p>
            <a:pPr lvl="1"/>
            <a:r>
              <a:rPr lang="ru-RU" dirty="0"/>
              <a:t>Просто внедрить</a:t>
            </a:r>
          </a:p>
          <a:p>
            <a:pPr lvl="1"/>
            <a:r>
              <a:rPr lang="ru-RU" dirty="0"/>
              <a:t>Легко управлять</a:t>
            </a:r>
          </a:p>
          <a:p>
            <a:pPr lvl="1"/>
            <a:r>
              <a:rPr lang="ru-RU" dirty="0"/>
              <a:t>Согласованность данных</a:t>
            </a:r>
          </a:p>
          <a:p>
            <a:pPr marL="0" indent="0">
              <a:buNone/>
            </a:pPr>
            <a:r>
              <a:rPr lang="ru-RU" b="1" dirty="0"/>
              <a:t>Недостатки:</a:t>
            </a:r>
          </a:p>
          <a:p>
            <a:pPr lvl="1"/>
            <a:r>
              <a:rPr lang="ru-RU" dirty="0"/>
              <a:t>Риск высокого времени простоя</a:t>
            </a:r>
          </a:p>
          <a:p>
            <a:pPr lvl="1"/>
            <a:r>
              <a:rPr lang="ru-RU" dirty="0"/>
              <a:t>Сложнее обновлять</a:t>
            </a:r>
          </a:p>
          <a:p>
            <a:pPr lvl="1"/>
            <a:r>
              <a:rPr lang="ru-RU" dirty="0"/>
              <a:t>Возможна единственная точка отказа</a:t>
            </a:r>
            <a:br>
              <a:rPr lang="ru-RU" dirty="0"/>
            </a:br>
            <a:endParaRPr lang="ru-RU" dirty="0"/>
          </a:p>
          <a:p>
            <a:endParaRPr lang="ru-RU" dirty="0"/>
          </a:p>
        </p:txBody>
      </p:sp>
      <p:pic>
        <p:nvPicPr>
          <p:cNvPr id="9218" name="Picture 2" descr="Автомасштабирование в Azure Monitor - Azure Monitor | Microsoft Learn">
            <a:extLst>
              <a:ext uri="{FF2B5EF4-FFF2-40B4-BE49-F238E27FC236}">
                <a16:creationId xmlns:a16="http://schemas.microsoft.com/office/drawing/2014/main" id="{9258DE81-5BF1-D0CA-1130-8F71819A0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467" y="3843394"/>
            <a:ext cx="5168855" cy="2333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361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25E3D-1495-A66D-C600-ED865B24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Горизонтальное масштабирование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0098B0-D434-1716-08BB-1F98F9ADC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Горизонтальное масштабирование</a:t>
            </a:r>
            <a:r>
              <a:rPr lang="ru-RU" dirty="0"/>
              <a:t> увеличивает масштаб системы путем добавления дополнительных машин для равномерного распределения нагрузки</a:t>
            </a:r>
          </a:p>
          <a:p>
            <a:pPr marL="0" indent="0">
              <a:buNone/>
            </a:pPr>
            <a:r>
              <a:rPr lang="ru-RU" b="1" dirty="0">
                <a:effectLst/>
              </a:rPr>
              <a:t>Преимущества</a:t>
            </a:r>
            <a:r>
              <a:rPr lang="ru-RU" dirty="0">
                <a:effectLst/>
              </a:rPr>
              <a:t> </a:t>
            </a:r>
          </a:p>
          <a:p>
            <a:pPr lvl="1"/>
            <a:r>
              <a:rPr lang="ru-RU" dirty="0">
                <a:effectLst/>
              </a:rPr>
              <a:t>Увеличенная избыточность</a:t>
            </a:r>
          </a:p>
          <a:p>
            <a:pPr lvl="1"/>
            <a:r>
              <a:rPr lang="ru-RU" dirty="0">
                <a:effectLst/>
              </a:rPr>
              <a:t>Лучшая устойчивость к отказам </a:t>
            </a:r>
          </a:p>
          <a:p>
            <a:pPr lvl="1"/>
            <a:r>
              <a:rPr lang="ru-RU" dirty="0">
                <a:effectLst/>
              </a:rPr>
              <a:t>Гибкость и эффективность </a:t>
            </a:r>
            <a:endParaRPr lang="ru-RU" dirty="0"/>
          </a:p>
          <a:p>
            <a:pPr lvl="1"/>
            <a:r>
              <a:rPr lang="ru-RU" dirty="0">
                <a:effectLst/>
              </a:rPr>
              <a:t>Проще обновлять </a:t>
            </a:r>
          </a:p>
          <a:p>
            <a:pPr marL="0" indent="0">
              <a:buNone/>
            </a:pPr>
            <a:r>
              <a:rPr lang="ru-RU" b="1" dirty="0">
                <a:effectLst/>
              </a:rPr>
              <a:t>Недостатки</a:t>
            </a:r>
            <a:r>
              <a:rPr lang="ru-RU" dirty="0">
                <a:effectLst/>
              </a:rPr>
              <a:t> </a:t>
            </a:r>
          </a:p>
          <a:p>
            <a:pPr lvl="1"/>
            <a:r>
              <a:rPr lang="ru-RU" dirty="0">
                <a:effectLst/>
              </a:rPr>
              <a:t>Увеличенная сложность </a:t>
            </a:r>
          </a:p>
          <a:p>
            <a:pPr lvl="1"/>
            <a:r>
              <a:rPr lang="ru-RU" dirty="0">
                <a:effectLst/>
              </a:rPr>
              <a:t>Несогласованность данных </a:t>
            </a:r>
          </a:p>
          <a:p>
            <a:pPr lvl="1"/>
            <a:r>
              <a:rPr lang="ru-RU" dirty="0">
                <a:effectLst/>
              </a:rPr>
              <a:t>Увеличенная нагрузка на последующие сервисы </a:t>
            </a:r>
          </a:p>
          <a:p>
            <a:pPr marL="0" indent="0">
              <a:buNone/>
            </a:pPr>
            <a:endParaRPr lang="ru-RU" dirty="0">
              <a:effectLst/>
            </a:endParaRPr>
          </a:p>
        </p:txBody>
      </p:sp>
      <p:pic>
        <p:nvPicPr>
          <p:cNvPr id="10242" name="Picture 2" descr="Проектирование системы – горизонтальное и вертикальное масштабирование | ИТ  Блог. Администрирование серверов на основе Linux (Ubuntu, Debian, CentOS,  openSUSE)">
            <a:extLst>
              <a:ext uri="{FF2B5EF4-FFF2-40B4-BE49-F238E27FC236}">
                <a16:creationId xmlns:a16="http://schemas.microsoft.com/office/drawing/2014/main" id="{2E71C164-18DE-7964-635C-72DCAB83D4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07" t="14449"/>
          <a:stretch/>
        </p:blipFill>
        <p:spPr bwMode="auto">
          <a:xfrm>
            <a:off x="7881644" y="3331767"/>
            <a:ext cx="4215950" cy="339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112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3EF2433-8B52-5CBF-9F24-E0DD8FF6A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Load Balancer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1C5D2A-ADDB-B9E0-93E8-51E7466C9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103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FAD485-FA65-7318-ECBC-F751D860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dirty="0"/>
              <a:t>Load Balancer</a:t>
            </a:r>
            <a:endParaRPr lang="ru-RU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F804333-7B28-03AC-0458-EF8C5C97AD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374" y="1825625"/>
            <a:ext cx="782125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659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75D22-2E91-8C2D-706B-D4F8FA30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Load Balancer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7F7E5C4-8FB9-6EE2-D682-37DA220070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27" y="2444138"/>
            <a:ext cx="10940102" cy="3034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293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F4E95-2282-11A5-88A5-77CCEDD96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рабочей нагрузки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4614A4-831D-1AB3-78DE-1CE601634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На основе хоста: </a:t>
            </a:r>
            <a:r>
              <a:rPr lang="ru-RU" dirty="0"/>
              <a:t>Распределяет запросы на основе запрошенного имени хоста.</a:t>
            </a:r>
          </a:p>
          <a:p>
            <a:r>
              <a:rPr lang="ru-RU" b="1" dirty="0"/>
              <a:t>На основе пути: </a:t>
            </a:r>
            <a:r>
              <a:rPr lang="ru-RU" dirty="0"/>
              <a:t>Использует весь </a:t>
            </a:r>
            <a:r>
              <a:rPr lang="en" dirty="0"/>
              <a:t>URL </a:t>
            </a:r>
            <a:r>
              <a:rPr lang="ru-RU" dirty="0"/>
              <a:t>для распределения запросов вместо только имени хоста.</a:t>
            </a:r>
          </a:p>
          <a:p>
            <a:r>
              <a:rPr lang="ru-RU" b="1" dirty="0"/>
              <a:t>На основе содержимого: </a:t>
            </a:r>
            <a:r>
              <a:rPr lang="ru-RU" dirty="0"/>
              <a:t>Изучает содержимое сообщения запроса. Это позволяет распределять нагрузку на основе содержимого, например, значения параметра.</a:t>
            </a:r>
          </a:p>
        </p:txBody>
      </p:sp>
    </p:spTree>
    <p:extLst>
      <p:ext uri="{BB962C8B-B14F-4D97-AF65-F5344CB8AC3E}">
        <p14:creationId xmlns:p14="http://schemas.microsoft.com/office/powerpoint/2010/main" val="230227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D7C22-2C09-C68F-82AC-704E8286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C5E52-7B95-D01E-C978-165B74E7E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Балансировщики нагрузки работают на двух уровнях: сетевом и прикладном.</a:t>
            </a:r>
          </a:p>
          <a:p>
            <a:r>
              <a:rPr lang="ru-RU" dirty="0"/>
              <a:t>Сетевой уровень (Уровень 4):</a:t>
            </a:r>
          </a:p>
          <a:p>
            <a:pPr lvl="1"/>
            <a:r>
              <a:rPr lang="ru-RU" dirty="0"/>
              <a:t>Маршрутизация основана на сетевой информации, такой как </a:t>
            </a:r>
            <a:r>
              <a:rPr lang="en" dirty="0"/>
              <a:t>IP-</a:t>
            </a:r>
            <a:r>
              <a:rPr lang="ru-RU" dirty="0"/>
              <a:t>адреса.</a:t>
            </a:r>
          </a:p>
          <a:p>
            <a:pPr lvl="1"/>
            <a:r>
              <a:rPr lang="ru-RU" dirty="0"/>
              <a:t>Высокая скорость работы.</a:t>
            </a:r>
          </a:p>
          <a:p>
            <a:pPr lvl="1"/>
            <a:r>
              <a:rPr lang="ru-RU" dirty="0"/>
              <a:t>Не учитывает содержимое запросов.</a:t>
            </a:r>
          </a:p>
          <a:p>
            <a:r>
              <a:rPr lang="ru-RU" dirty="0"/>
              <a:t>Прикладной уровень (Уровень 7):</a:t>
            </a:r>
          </a:p>
          <a:p>
            <a:pPr lvl="1"/>
            <a:r>
              <a:rPr lang="ru-RU" dirty="0"/>
              <a:t>Маршрутизация основана на содержимом запросов.</a:t>
            </a:r>
          </a:p>
          <a:p>
            <a:pPr lvl="1"/>
            <a:r>
              <a:rPr lang="ru-RU" dirty="0"/>
              <a:t>Полное понимание трафика.</a:t>
            </a:r>
          </a:p>
          <a:p>
            <a:pPr lvl="1"/>
            <a:r>
              <a:rPr lang="ru-RU" dirty="0"/>
              <a:t>Управление нагрузкой на более высоком уровне.</a:t>
            </a:r>
            <a:br>
              <a:rPr lang="ru-RU" dirty="0"/>
            </a:b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9534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27A7F-5FA9-EEE6-F63F-5098BDC9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балансировщиков нагрузки: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073F42-8B43-6CD1-29C9-36016820C7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Программные</a:t>
            </a:r>
            <a:endParaRPr lang="en-US" b="1" dirty="0"/>
          </a:p>
          <a:p>
            <a:r>
              <a:rPr lang="ru-RU" b="1" dirty="0"/>
              <a:t>Аппаратные</a:t>
            </a:r>
          </a:p>
        </p:txBody>
      </p:sp>
      <p:pic>
        <p:nvPicPr>
          <p:cNvPr id="5" name="Picture 4" descr="What Is Load Balancing? How Load Balancers Work">
            <a:extLst>
              <a:ext uri="{FF2B5EF4-FFF2-40B4-BE49-F238E27FC236}">
                <a16:creationId xmlns:a16="http://schemas.microsoft.com/office/drawing/2014/main" id="{A5255771-777D-A385-1B10-6C720429C02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056" y="2206154"/>
            <a:ext cx="7097389" cy="359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989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27A7F-5FA9-EEE6-F63F-5098BDC9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балансировщиков нагрузки: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073F42-8B43-6CD1-29C9-36016820C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Программные: </a:t>
            </a:r>
          </a:p>
          <a:p>
            <a:pPr lvl="1"/>
            <a:r>
              <a:rPr lang="ru-RU" dirty="0"/>
              <a:t>Проще в развертывании, экономичны и гибки. </a:t>
            </a:r>
          </a:p>
          <a:p>
            <a:pPr lvl="1"/>
            <a:r>
              <a:rPr lang="ru-RU" dirty="0"/>
              <a:t>Позволяют настраивать под конкретные потребности среды.</a:t>
            </a:r>
          </a:p>
          <a:p>
            <a:pPr lvl="1"/>
            <a:r>
              <a:rPr lang="ru-RU" dirty="0"/>
              <a:t>Могут быть как </a:t>
            </a:r>
            <a:r>
              <a:rPr lang="ru-RU" dirty="0" err="1"/>
              <a:t>установычными</a:t>
            </a:r>
            <a:r>
              <a:rPr lang="ru-RU" dirty="0"/>
              <a:t> решениями, так и облачными сервисами.</a:t>
            </a:r>
            <a:br>
              <a:rPr lang="ru-RU" dirty="0"/>
            </a:br>
            <a:endParaRPr lang="ru-RU" dirty="0"/>
          </a:p>
        </p:txBody>
      </p:sp>
      <p:pic>
        <p:nvPicPr>
          <p:cNvPr id="4098" name="Picture 2" descr="Тонкая настройка маршрутизации для MetalLB в режиме L2 / Хабр">
            <a:extLst>
              <a:ext uri="{FF2B5EF4-FFF2-40B4-BE49-F238E27FC236}">
                <a16:creationId xmlns:a16="http://schemas.microsoft.com/office/drawing/2014/main" id="{DA966E2D-B137-D0D2-53F0-50ED08360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003" y="4126627"/>
            <a:ext cx="4186637" cy="218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Load Balancing Using NGINX for Windows | by Kevin Asyraf | Medium">
            <a:extLst>
              <a:ext uri="{FF2B5EF4-FFF2-40B4-BE49-F238E27FC236}">
                <a16:creationId xmlns:a16="http://schemas.microsoft.com/office/drawing/2014/main" id="{FD89342E-74CC-8D91-F0D8-760DF51A3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878" y="3983427"/>
            <a:ext cx="4311371" cy="250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055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FBBA2-48DE-6204-FE58-547F8CB88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балансировщиков нагрузки: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C2A17B-DD47-214D-EB1D-043CE60267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Аппаратные: </a:t>
            </a:r>
          </a:p>
          <a:p>
            <a:pPr lvl="1"/>
            <a:r>
              <a:rPr lang="ru-RU" dirty="0"/>
              <a:t>Основаны на физическом оборудовании для распределения трафика.</a:t>
            </a:r>
          </a:p>
          <a:p>
            <a:pPr lvl="1"/>
            <a:r>
              <a:rPr lang="ru-RU" dirty="0"/>
              <a:t>Обрабатывают большие объемы трафика, но дороже и менее гибки. </a:t>
            </a:r>
          </a:p>
          <a:p>
            <a:pPr lvl="1"/>
            <a:r>
              <a:rPr lang="ru-RU" dirty="0"/>
              <a:t>Включают фирменное программное обеспечение, требующее обслуживания и обновлений.</a:t>
            </a:r>
          </a:p>
        </p:txBody>
      </p:sp>
      <p:pic>
        <p:nvPicPr>
          <p:cNvPr id="5" name="Picture 4" descr="F5 Networks Enterprise балансировщик нагрузки - огромный выбор по лучшим  ценам | eBay">
            <a:extLst>
              <a:ext uri="{FF2B5EF4-FFF2-40B4-BE49-F238E27FC236}">
                <a16:creationId xmlns:a16="http://schemas.microsoft.com/office/drawing/2014/main" id="{E7AEAB2A-66DD-C78C-B14A-E6217C82EEF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463" y="1527412"/>
            <a:ext cx="4599920" cy="45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203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C97F3-35E1-AD03-DA5A-AC69105DC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Алгоритмы маршрутизации: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60EB261-B600-E942-046C-592C424DF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Круговой (</a:t>
            </a:r>
            <a:r>
              <a:rPr lang="en" b="1" dirty="0"/>
              <a:t>Round-robin): </a:t>
            </a:r>
            <a:r>
              <a:rPr lang="ru-RU" dirty="0"/>
              <a:t>Запросы распределяются по серверам поочередно.</a:t>
            </a:r>
          </a:p>
          <a:p>
            <a:r>
              <a:rPr lang="ru-RU" b="1" dirty="0"/>
              <a:t>Взвешенный Круговой (</a:t>
            </a:r>
            <a:r>
              <a:rPr lang="en" b="1" dirty="0"/>
              <a:t>Weighted Round-robin): </a:t>
            </a:r>
            <a:r>
              <a:rPr lang="ru-RU" dirty="0"/>
              <a:t>Учитывает характеристики серверов, используя веса, назначенные администратором через </a:t>
            </a:r>
            <a:r>
              <a:rPr lang="en" dirty="0"/>
              <a:t>DNS-</a:t>
            </a:r>
            <a:r>
              <a:rPr lang="ru-RU" dirty="0"/>
              <a:t>записи.</a:t>
            </a:r>
          </a:p>
          <a:p>
            <a:r>
              <a:rPr lang="ru-RU" b="1" dirty="0"/>
              <a:t>Наименьшее Количество Соединений (</a:t>
            </a:r>
            <a:r>
              <a:rPr lang="en" b="1" dirty="0"/>
              <a:t>Least Connections): </a:t>
            </a:r>
            <a:r>
              <a:rPr lang="ru-RU" dirty="0"/>
              <a:t>Новый запрос отправляется на сервер с наименьшим числом активных соединений с клиентами.</a:t>
            </a:r>
          </a:p>
          <a:p>
            <a:r>
              <a:rPr lang="ru-RU" b="1" dirty="0"/>
              <a:t>Наименьшее Время Ответа (</a:t>
            </a:r>
            <a:r>
              <a:rPr lang="en" b="1" dirty="0"/>
              <a:t>Least Response Time): </a:t>
            </a:r>
            <a:r>
              <a:rPr lang="ru-RU" dirty="0"/>
              <a:t>Запросы отправляются на сервер с самым быстрым временем ответа и наименьшим количеством активных соединений.</a:t>
            </a:r>
          </a:p>
          <a:p>
            <a:r>
              <a:rPr lang="ru-RU" b="1" dirty="0"/>
              <a:t>Наименьшая Полоса Пропускания (</a:t>
            </a:r>
            <a:r>
              <a:rPr lang="en" b="1" dirty="0"/>
              <a:t>Least Bandwidth): </a:t>
            </a:r>
            <a:r>
              <a:rPr lang="ru-RU" dirty="0"/>
              <a:t>Запросы направляются на сервер с наименьшим объемом трафика.</a:t>
            </a:r>
          </a:p>
          <a:p>
            <a:r>
              <a:rPr lang="ru-RU" b="1" dirty="0"/>
              <a:t>Хеширование (</a:t>
            </a:r>
            <a:r>
              <a:rPr lang="en" b="1" dirty="0"/>
              <a:t>Hashing): </a:t>
            </a:r>
            <a:r>
              <a:rPr lang="ru-RU" dirty="0"/>
              <a:t>Распределение запросов на основе ключа, такого как </a:t>
            </a:r>
            <a:r>
              <a:rPr lang="en" dirty="0"/>
              <a:t>IP-</a:t>
            </a:r>
            <a:r>
              <a:rPr lang="ru-RU" dirty="0"/>
              <a:t>адрес клиента или запрашиваемый </a:t>
            </a:r>
            <a:r>
              <a:rPr lang="en" dirty="0"/>
              <a:t>URL.</a:t>
            </a:r>
          </a:p>
        </p:txBody>
      </p:sp>
    </p:spTree>
    <p:extLst>
      <p:ext uri="{BB962C8B-B14F-4D97-AF65-F5344CB8AC3E}">
        <p14:creationId xmlns:p14="http://schemas.microsoft.com/office/powerpoint/2010/main" val="3985287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36A39-7C87-6C5B-E0D0-B206F7A2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099285-383F-D3B1-FDA7-433611A22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Масштабируемость</a:t>
            </a:r>
          </a:p>
          <a:p>
            <a:r>
              <a:rPr lang="ru-RU" dirty="0"/>
              <a:t>Избыточность</a:t>
            </a:r>
          </a:p>
          <a:p>
            <a:r>
              <a:rPr lang="ru-RU" dirty="0"/>
              <a:t>Гибкость</a:t>
            </a:r>
          </a:p>
          <a:p>
            <a:r>
              <a:rPr lang="ru-RU" dirty="0"/>
              <a:t>Эффективность</a:t>
            </a:r>
          </a:p>
        </p:txBody>
      </p:sp>
    </p:spTree>
    <p:extLst>
      <p:ext uri="{BB962C8B-B14F-4D97-AF65-F5344CB8AC3E}">
        <p14:creationId xmlns:p14="http://schemas.microsoft.com/office/powerpoint/2010/main" val="2858746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E129E-B1F6-F229-FB17-3FB46EA4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Избыточные балансировщики нагрузки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2D79510-73C5-BCE7-4245-AA4F551458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633" y="1917786"/>
            <a:ext cx="8104733" cy="4463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9194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B93D35-51D3-F314-8869-2491E1252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6D4D75-ADE1-70CD-8DB4-5730C10CB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 err="1"/>
              <a:t>Автомасштабирование</a:t>
            </a:r>
            <a:r>
              <a:rPr lang="ru-RU" b="1" dirty="0"/>
              <a:t>: </a:t>
            </a:r>
            <a:r>
              <a:rPr lang="ru-RU" dirty="0"/>
              <a:t>Подстройка ресурсов под изменяющийся спрос.</a:t>
            </a:r>
          </a:p>
          <a:p>
            <a:r>
              <a:rPr lang="ru-RU" b="1" dirty="0"/>
              <a:t>Привязка сессий: </a:t>
            </a:r>
            <a:r>
              <a:rPr lang="ru-RU" dirty="0"/>
              <a:t>Гарантированное сохранение состояния сессии для пользователя или устройства.</a:t>
            </a:r>
          </a:p>
          <a:p>
            <a:r>
              <a:rPr lang="ru-RU" b="1" dirty="0"/>
              <a:t>Проверка состояния: </a:t>
            </a:r>
            <a:r>
              <a:rPr lang="ru-RU" dirty="0"/>
              <a:t>Отслеживание работоспособности ресурсов и их автоматическое исключение при необходимости.</a:t>
            </a:r>
          </a:p>
          <a:p>
            <a:r>
              <a:rPr lang="ru-RU" b="1" dirty="0"/>
              <a:t>Постоянные соединения: </a:t>
            </a:r>
            <a:r>
              <a:rPr lang="ru-RU" dirty="0"/>
              <a:t>Создание долгосрочных соединений, например, </a:t>
            </a:r>
            <a:r>
              <a:rPr lang="en" dirty="0"/>
              <a:t>WebSocket.</a:t>
            </a:r>
          </a:p>
          <a:p>
            <a:r>
              <a:rPr lang="ru-RU" b="1" dirty="0"/>
              <a:t>Шифрование и сертификация: </a:t>
            </a:r>
            <a:r>
              <a:rPr lang="ru-RU" dirty="0"/>
              <a:t>Обеспечение безопасных соединений через </a:t>
            </a:r>
            <a:r>
              <a:rPr lang="en" dirty="0"/>
              <a:t>TLS </a:t>
            </a:r>
            <a:r>
              <a:rPr lang="ru-RU" dirty="0"/>
              <a:t>и </a:t>
            </a:r>
            <a:r>
              <a:rPr lang="en" dirty="0"/>
              <a:t>SSL.</a:t>
            </a:r>
          </a:p>
          <a:p>
            <a:r>
              <a:rPr lang="ru-RU" b="1" dirty="0"/>
              <a:t>Сжатие: </a:t>
            </a:r>
            <a:r>
              <a:rPr lang="ru-RU" dirty="0"/>
              <a:t>Уменьшение размера передаваемых данных.</a:t>
            </a:r>
          </a:p>
          <a:p>
            <a:r>
              <a:rPr lang="ru-RU" b="1" dirty="0"/>
              <a:t>Кэширование: </a:t>
            </a:r>
            <a:r>
              <a:rPr lang="ru-RU" dirty="0"/>
              <a:t>Ускорение доступа к часто запрашиваемым ресурсам.</a:t>
            </a:r>
          </a:p>
          <a:p>
            <a:r>
              <a:rPr lang="ru-RU" b="1" dirty="0"/>
              <a:t>Логирование: </a:t>
            </a:r>
            <a:r>
              <a:rPr lang="ru-RU" dirty="0"/>
              <a:t>Фиксация информации о запросах и ответах для аудита и аналитики.</a:t>
            </a:r>
          </a:p>
          <a:p>
            <a:r>
              <a:rPr lang="ru-RU" b="1" dirty="0"/>
              <a:t>Трассировка запросов: </a:t>
            </a:r>
            <a:r>
              <a:rPr lang="ru-RU" dirty="0"/>
              <a:t>Присвоение уникальных идентификаторов для отслеживания и устранения проблем.</a:t>
            </a:r>
          </a:p>
          <a:p>
            <a:r>
              <a:rPr lang="ru-RU" b="1" dirty="0"/>
              <a:t>Переадресация: </a:t>
            </a:r>
            <a:r>
              <a:rPr lang="ru-RU" dirty="0"/>
              <a:t>Автоматическое направление запросов в зависимости от условий.</a:t>
            </a:r>
          </a:p>
          <a:p>
            <a:r>
              <a:rPr lang="ru-RU" b="1" dirty="0"/>
              <a:t>Фиксированный ответ: </a:t>
            </a:r>
            <a:r>
              <a:rPr lang="ru-RU" dirty="0"/>
              <a:t>Предоставление статических ответов на запросы, например, сообщений об ошибках.</a:t>
            </a:r>
          </a:p>
        </p:txBody>
      </p:sp>
    </p:spTree>
    <p:extLst>
      <p:ext uri="{BB962C8B-B14F-4D97-AF65-F5344CB8AC3E}">
        <p14:creationId xmlns:p14="http://schemas.microsoft.com/office/powerpoint/2010/main" val="3701780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45FCA30-3792-1B88-7649-0148591A5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Масштабирование системы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3A6438-6431-173A-1ADC-99658E999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698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A22A3C-7399-C86C-D85D-A759942C7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Масштабирование системы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327CCFC-1AE3-AF1F-CCD7-ECF2EE39D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0286" y="3115697"/>
            <a:ext cx="8711335" cy="374230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B6020A-B945-36E9-6AB8-AF2416BC88F0}"/>
              </a:ext>
            </a:extLst>
          </p:cNvPr>
          <p:cNvSpPr txBox="1"/>
          <p:nvPr/>
        </p:nvSpPr>
        <p:spPr>
          <a:xfrm>
            <a:off x="838200" y="2014917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effectLst/>
              </a:rPr>
              <a:t>Естественной задачей для балансировщика является </a:t>
            </a:r>
            <a:r>
              <a:rPr lang="ru-RU" dirty="0" err="1">
                <a:effectLst/>
              </a:rPr>
              <a:t>балансировкапользовательского</a:t>
            </a:r>
            <a:r>
              <a:rPr lang="ru-RU" dirty="0">
                <a:effectLst/>
              </a:rPr>
              <a:t> трафика — распределение приходящих запросов </a:t>
            </a:r>
            <a:r>
              <a:rPr lang="ru-RU" dirty="0" err="1">
                <a:effectLst/>
              </a:rPr>
              <a:t>отпользователя</a:t>
            </a:r>
            <a:r>
              <a:rPr lang="ru-RU" dirty="0">
                <a:effectLst/>
              </a:rPr>
              <a:t> между инстансами сервиса: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832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36244-1BA2-E477-43A1-E4DDB86BA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Масштабирование системы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D1489F2-7CE3-6898-65AF-2BDCF8FCA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0333"/>
            <a:ext cx="10515600" cy="3581921"/>
          </a:xfrm>
        </p:spPr>
      </p:pic>
    </p:spTree>
    <p:extLst>
      <p:ext uri="{BB962C8B-B14F-4D97-AF65-F5344CB8AC3E}">
        <p14:creationId xmlns:p14="http://schemas.microsoft.com/office/powerpoint/2010/main" val="1581960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6C022-02DE-B877-7A34-939CDB31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Принцип работы балансировщика нагрузки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90CC26-3CC2-F2CB-6200-2EF30DF9B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Анализ того, какие из серверов готовы принять и обработать </a:t>
            </a:r>
            <a:r>
              <a:rPr lang="ru-RU" dirty="0" err="1"/>
              <a:t>запроспользователя</a:t>
            </a:r>
            <a:endParaRPr lang="ru-RU" dirty="0"/>
          </a:p>
          <a:p>
            <a:r>
              <a:rPr lang="ru-RU" dirty="0"/>
              <a:t>Выбор наиболее подходящего сервера по заданному алгоритму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3494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0ECA5-203F-5DA7-62BA-59160E735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Алгоритм выбора подходящего сервера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9F2338-87FB-05BA-14CB-03EB0831C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Приоритет подключений: </a:t>
            </a:r>
            <a:r>
              <a:rPr lang="ru-RU" dirty="0"/>
              <a:t>Минимизация количества подключений к серверу. </a:t>
            </a:r>
            <a:endParaRPr lang="en-US" dirty="0"/>
          </a:p>
          <a:p>
            <a:r>
              <a:rPr lang="ru-RU" b="1" dirty="0"/>
              <a:t>Приоритет времени ответа: </a:t>
            </a:r>
            <a:r>
              <a:rPr lang="ru-RU" dirty="0"/>
              <a:t>Минимизация задержки перед ответом. </a:t>
            </a:r>
            <a:endParaRPr lang="en-US" dirty="0"/>
          </a:p>
          <a:p>
            <a:r>
              <a:rPr lang="ru-RU" b="1" dirty="0"/>
              <a:t>Приоритет трафика: </a:t>
            </a:r>
            <a:r>
              <a:rPr lang="ru-RU" dirty="0"/>
              <a:t>Минимизация сетевой нагрузки. </a:t>
            </a:r>
            <a:endParaRPr lang="en-US" dirty="0"/>
          </a:p>
          <a:p>
            <a:r>
              <a:rPr lang="en" b="1" dirty="0"/>
              <a:t>Round-robin: </a:t>
            </a:r>
            <a:r>
              <a:rPr lang="ru-RU" dirty="0"/>
              <a:t>Серверы обслуживают запросы по кругу из предварительно определенной очереди. </a:t>
            </a:r>
            <a:endParaRPr lang="en-US" dirty="0"/>
          </a:p>
          <a:p>
            <a:r>
              <a:rPr lang="en" b="1" dirty="0"/>
              <a:t>Weighted round-robin: </a:t>
            </a:r>
            <a:r>
              <a:rPr lang="ru-RU" dirty="0"/>
              <a:t>Серверам назначаются веса на основе вышеуказанных характеристик. </a:t>
            </a:r>
            <a:endParaRPr lang="en-US" dirty="0"/>
          </a:p>
          <a:p>
            <a:r>
              <a:rPr lang="ru-RU" b="1" dirty="0"/>
              <a:t>Пользовательский хэш: </a:t>
            </a:r>
            <a:r>
              <a:rPr lang="ru-RU" dirty="0"/>
              <a:t>Выбор сервера основан на хэше (</a:t>
            </a:r>
            <a:r>
              <a:rPr lang="en" dirty="0"/>
              <a:t>IP, </a:t>
            </a:r>
            <a:r>
              <a:rPr lang="en" dirty="0" err="1"/>
              <a:t>user_id</a:t>
            </a:r>
            <a:r>
              <a:rPr lang="en" dirty="0"/>
              <a:t> </a:t>
            </a:r>
            <a:r>
              <a:rPr lang="ru-RU" dirty="0"/>
              <a:t>и т. д.).</a:t>
            </a:r>
          </a:p>
          <a:p>
            <a:pPr marL="0" indent="0">
              <a:buNone/>
            </a:pP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194841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0B855-323B-5083-3DC1-FB0CD838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Преимущества балансировщика: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2DF1B-8EDD-2112-1E20-B46A316D0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Улучшение пользовательского опыта</a:t>
            </a:r>
            <a:r>
              <a:rPr lang="ru-RU" dirty="0"/>
              <a:t>: запросы направляются к подходящему серверу, повышая эффективность обработки.</a:t>
            </a:r>
          </a:p>
          <a:p>
            <a:r>
              <a:rPr lang="ru-RU" b="1" dirty="0"/>
              <a:t>Снижение нагрузки на сервера</a:t>
            </a:r>
            <a:r>
              <a:rPr lang="ru-RU" dirty="0"/>
              <a:t>: запросы распределяются между серверами, снижая нагрузку на каждый из них.</a:t>
            </a:r>
          </a:p>
          <a:p>
            <a:r>
              <a:rPr lang="ru-RU" b="1" dirty="0"/>
              <a:t>Обеспечение отказоустойчивости</a:t>
            </a:r>
            <a:r>
              <a:rPr lang="ru-RU" dirty="0"/>
              <a:t>: даже при отказе части серверов (в случае </a:t>
            </a:r>
            <a:r>
              <a:rPr lang="en" dirty="0"/>
              <a:t>stateless </a:t>
            </a:r>
            <a:r>
              <a:rPr lang="ru-RU" dirty="0"/>
              <a:t>сервиса) система остается работоспособной.</a:t>
            </a:r>
          </a:p>
          <a:p>
            <a:r>
              <a:rPr lang="ru-RU" b="1" dirty="0"/>
              <a:t>Автоматическое масштабирование</a:t>
            </a:r>
            <a:r>
              <a:rPr lang="ru-RU" dirty="0"/>
              <a:t>: интеллектуальные балансировщики могут прогнозировать рост нагрузки и инициировать </a:t>
            </a:r>
            <a:r>
              <a:rPr lang="ru-RU" dirty="0" err="1"/>
              <a:t>автоскейлинг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4431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3C2A7-B5EB-2AB8-7C45-DB787531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Распределение данных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634876-6823-22B5-89E1-336FB711E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Секционирование: </a:t>
            </a:r>
            <a:r>
              <a:rPr lang="ru-RU" dirty="0"/>
              <a:t>разделение данных на логические части для улучшения масштабируемости и производительности системы.</a:t>
            </a:r>
          </a:p>
          <a:p>
            <a:r>
              <a:rPr lang="ru-RU" b="1" dirty="0"/>
              <a:t>Избыточность и репликация: </a:t>
            </a:r>
            <a:r>
              <a:rPr lang="ru-RU" dirty="0"/>
              <a:t>дублирование элементов системы для повышения надежности и копирование данных для обеспечения </a:t>
            </a:r>
            <a:r>
              <a:rPr lang="ru-RU" dirty="0" err="1"/>
              <a:t>консистентности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8103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AFC9A4-A1C5-530B-393E-8D571A8C5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Секционирование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E9F3F6-59AC-1D9A-D3D5-F1FB52950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Вертикальное секционирование</a:t>
            </a:r>
            <a:r>
              <a:rPr lang="ru-RU" dirty="0"/>
              <a:t>: разделение данных на разные смысловые части с возможным размещением на разных серверах.</a:t>
            </a:r>
          </a:p>
          <a:p>
            <a:r>
              <a:rPr lang="ru-RU" b="1" dirty="0"/>
              <a:t>Горизонтальное секционирование (</a:t>
            </a:r>
            <a:r>
              <a:rPr lang="ru-RU" b="1" dirty="0" err="1"/>
              <a:t>шардирование</a:t>
            </a:r>
            <a:r>
              <a:rPr lang="ru-RU" b="1" dirty="0"/>
              <a:t>)</a:t>
            </a:r>
            <a:r>
              <a:rPr lang="ru-RU" dirty="0"/>
              <a:t>: разбиение данных по ключу, например, дню недели или почтовому индексу, на уровне таблицы.</a:t>
            </a:r>
          </a:p>
        </p:txBody>
      </p:sp>
    </p:spTree>
    <p:extLst>
      <p:ext uri="{BB962C8B-B14F-4D97-AF65-F5344CB8AC3E}">
        <p14:creationId xmlns:p14="http://schemas.microsoft.com/office/powerpoint/2010/main" val="918034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75BAE-E3C2-9640-BA49-CBD195D4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Секционирование данных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E678608-EA23-D006-1045-E532F146A5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035" y="1472749"/>
            <a:ext cx="6675930" cy="5385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748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B8579-DC97-CC57-5806-52B5079F5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Методы секционирования записей: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CBED05-6B20-E362-3741-51F9F99ED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По ключу или </a:t>
            </a:r>
            <a:r>
              <a:rPr lang="ru-RU" b="1" dirty="0" err="1"/>
              <a:t>хешу</a:t>
            </a:r>
            <a:r>
              <a:rPr lang="ru-RU" b="1" dirty="0"/>
              <a:t>: </a:t>
            </a:r>
            <a:r>
              <a:rPr lang="ru-RU" dirty="0"/>
              <a:t>используем хеш-функцию для определения номера </a:t>
            </a:r>
            <a:r>
              <a:rPr lang="ru-RU" dirty="0" err="1"/>
              <a:t>партиции</a:t>
            </a:r>
            <a:r>
              <a:rPr lang="ru-RU" dirty="0"/>
              <a:t> на основе поля, например, времени создания записи. Недостатки в фиксированном числе серверов и возможном перекосе нагрузки.</a:t>
            </a:r>
          </a:p>
          <a:p>
            <a:r>
              <a:rPr lang="ru-RU" b="1" dirty="0"/>
              <a:t>По спискам: </a:t>
            </a:r>
            <a:r>
              <a:rPr lang="ru-RU" dirty="0"/>
              <a:t>предварительно распределяем записи по группам на основе различных параметров, таких как страна или день недели, для более равномерной нагрузки.</a:t>
            </a:r>
          </a:p>
          <a:p>
            <a:r>
              <a:rPr lang="en" b="1" dirty="0"/>
              <a:t>Round-robin: </a:t>
            </a:r>
            <a:r>
              <a:rPr lang="ru-RU" dirty="0"/>
              <a:t>циклически изменяем </a:t>
            </a:r>
            <a:r>
              <a:rPr lang="ru-RU" dirty="0" err="1"/>
              <a:t>партиции</a:t>
            </a:r>
            <a:r>
              <a:rPr lang="ru-RU" dirty="0"/>
              <a:t> с каждой новой записью.</a:t>
            </a:r>
          </a:p>
          <a:p>
            <a:r>
              <a:rPr lang="ru-RU" b="1" dirty="0"/>
              <a:t>Составное разбиение: </a:t>
            </a:r>
            <a:r>
              <a:rPr lang="ru-RU" dirty="0"/>
              <a:t>комбинируем вышеуказанные методы для более гибкой настройки.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9700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779EF-B8E2-FEB1-C07F-C410236A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757336-E654-53A9-98F5-46F74A18E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dirty="0"/>
              <a:t>JOIN-</a:t>
            </a:r>
            <a:r>
              <a:rPr lang="ru-RU" dirty="0"/>
              <a:t>ы становятся проблемой из-за данных на разных серверах и их сложности в выполнении, частично решаемая </a:t>
            </a:r>
            <a:r>
              <a:rPr lang="ru-RU" dirty="0" err="1"/>
              <a:t>денормализацией</a:t>
            </a:r>
            <a:r>
              <a:rPr lang="ru-RU" dirty="0"/>
              <a:t> базы данных.</a:t>
            </a:r>
          </a:p>
          <a:p>
            <a:r>
              <a:rPr lang="ru-RU" dirty="0"/>
              <a:t>Большинство РСУБД не способны контролировать валидность внешних ключей на разных серверах.</a:t>
            </a:r>
          </a:p>
          <a:p>
            <a:r>
              <a:rPr lang="ru-RU" dirty="0" err="1"/>
              <a:t>Ребалансировка</a:t>
            </a:r>
            <a:r>
              <a:rPr lang="ru-RU" dirty="0"/>
              <a:t> требует изменения </a:t>
            </a:r>
            <a:r>
              <a:rPr lang="ru-RU" dirty="0" err="1"/>
              <a:t>шардирования</a:t>
            </a:r>
            <a:r>
              <a:rPr lang="ru-RU" dirty="0"/>
              <a:t>, если обнаружены проблемы, что приводит к пересылке данных и недоступности системы.</a:t>
            </a:r>
            <a:br>
              <a:rPr lang="ru-RU" dirty="0"/>
            </a:b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7561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3367052-DFB4-EFD1-A0D0-2A8D68F3E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Избыточность и репликация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D864A2-9F05-6426-AC12-800D3E77F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047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4A71E-CF62-1E30-5E7E-2CBA2D6E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Избыточность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3E8292A-21E1-5B24-E9B4-BF8B87FBC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7050" y="1632722"/>
            <a:ext cx="5817900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855A39-6AB3-9A52-AAD6-984D3F5FAD22}"/>
              </a:ext>
            </a:extLst>
          </p:cNvPr>
          <p:cNvSpPr txBox="1"/>
          <p:nvPr/>
        </p:nvSpPr>
        <p:spPr>
          <a:xfrm>
            <a:off x="838200" y="6097478"/>
            <a:ext cx="8957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effectLst/>
              </a:rPr>
              <a:t>Резервный сервис в пару к действующему на отдельной машине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8358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4A71E-CF62-1E30-5E7E-2CBA2D6E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Избыточность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55A39-6AB3-9A52-AAD6-984D3F5FAD22}"/>
              </a:ext>
            </a:extLst>
          </p:cNvPr>
          <p:cNvSpPr txBox="1"/>
          <p:nvPr/>
        </p:nvSpPr>
        <p:spPr>
          <a:xfrm>
            <a:off x="838200" y="6097478"/>
            <a:ext cx="8957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effectLst/>
              </a:rPr>
              <a:t>Резервный сервис в пару к действующему на отдельной машине</a:t>
            </a:r>
            <a:endParaRPr lang="ru-RU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E70E5EF8-8AEF-0368-D2DD-5594A4FCC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1394" y="1825625"/>
            <a:ext cx="62092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32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68B84-3D25-D32A-5943-02F90B391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Репликация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2EBD5D6-EDB9-132F-DEFA-0596990B9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7875" y="1825625"/>
            <a:ext cx="6236249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06F40A-218A-2F8C-CD08-086251F22CE3}"/>
              </a:ext>
            </a:extLst>
          </p:cNvPr>
          <p:cNvSpPr txBox="1"/>
          <p:nvPr/>
        </p:nvSpPr>
        <p:spPr>
          <a:xfrm>
            <a:off x="1745518" y="6176963"/>
            <a:ext cx="8700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Репликация повышает надежность, устойчивость к отказам и доступность системы.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52061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25ED4-5D3E-2451-5890-D5072F46C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Кворум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A80B29-5046-9DCF-B95C-C86D207EF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Кворум</a:t>
            </a:r>
            <a:r>
              <a:rPr lang="ru-RU" dirty="0"/>
              <a:t> - это минимальное количество узлов, необходимое для согласованности операций в сети. В случае отказа узлов, система может продолжать работу, если количество живых узлов превышает </a:t>
            </a:r>
            <a:r>
              <a:rPr lang="en" dirty="0"/>
              <a:t> </a:t>
            </a:r>
            <a:r>
              <a:rPr lang="en" dirty="0">
                <a:effectLst/>
              </a:rPr>
              <a:t> </a:t>
            </a:r>
            <a:r>
              <a:rPr lang="en" dirty="0"/>
              <a:t>2f + 1</a:t>
            </a:r>
            <a:r>
              <a:rPr lang="ru-RU" dirty="0"/>
              <a:t>. Операции чтения и записи требуют кворума для успешного выполнения, что обеспечивает </a:t>
            </a:r>
            <a:r>
              <a:rPr lang="ru-RU" dirty="0" err="1"/>
              <a:t>консистентность</a:t>
            </a:r>
            <a:r>
              <a:rPr lang="ru-RU" dirty="0"/>
              <a:t> данных, но может привести к временной недоступности сервиса.</a:t>
            </a:r>
          </a:p>
        </p:txBody>
      </p:sp>
    </p:spTree>
    <p:extLst>
      <p:ext uri="{BB962C8B-B14F-4D97-AF65-F5344CB8AC3E}">
        <p14:creationId xmlns:p14="http://schemas.microsoft.com/office/powerpoint/2010/main" val="1986944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6FB74-0B2A-D3F2-031D-ACB76264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Лидер и последователи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11D4A7F-AE45-FF68-5999-27122E9E63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4337" y="1841809"/>
            <a:ext cx="7156976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6A4F8B-98EA-8BA4-92A3-A7453C1D8BF1}"/>
              </a:ext>
            </a:extLst>
          </p:cNvPr>
          <p:cNvSpPr txBox="1"/>
          <p:nvPr/>
        </p:nvSpPr>
        <p:spPr>
          <a:xfrm>
            <a:off x="542166" y="2953593"/>
            <a:ext cx="39821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Лидер (</a:t>
            </a:r>
            <a:r>
              <a:rPr lang="en" b="1" dirty="0"/>
              <a:t>Master): </a:t>
            </a:r>
            <a:r>
              <a:rPr lang="ru-RU" dirty="0"/>
              <a:t>Отвечает за запись и обновление данных.</a:t>
            </a:r>
          </a:p>
          <a:p>
            <a:r>
              <a:rPr lang="ru-RU" b="1" dirty="0"/>
              <a:t>Последователи (</a:t>
            </a:r>
            <a:r>
              <a:rPr lang="en" b="1" dirty="0"/>
              <a:t>Slaves): </a:t>
            </a:r>
            <a:r>
              <a:rPr lang="ru-RU" dirty="0"/>
              <a:t>Получают копии данных от лидера и обеспечивают доступ к данным для пользователей.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878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1C59874-3BD6-B564-D210-2300ECDD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Кэширование данных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F80967C-534A-0FBB-A501-D864AEB95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161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D27AB27A-E4AD-0127-56CC-14A371C1C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6000" dirty="0">
                <a:effectLst/>
                <a:latin typeface="+mj-lt"/>
              </a:rPr>
              <a:t>Самый лучший способ ускорить вычисления – не совершать их вообще. </a:t>
            </a:r>
            <a:endParaRPr lang="ru-RU" sz="6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78164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64120-8836-6551-57CF-B8509C140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Кэширование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FEFF1FB-D9C2-178B-F2F9-739EE4E2C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34494"/>
            <a:ext cx="10515600" cy="2133600"/>
          </a:xfrm>
        </p:spPr>
      </p:pic>
    </p:spTree>
    <p:extLst>
      <p:ext uri="{BB962C8B-B14F-4D97-AF65-F5344CB8AC3E}">
        <p14:creationId xmlns:p14="http://schemas.microsoft.com/office/powerpoint/2010/main" val="3779357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26836-4D44-0B21-9954-D8D6A080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Кэширование и память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4E2192-E219-C4E7-FAD1-584C2077B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Кэш</a:t>
            </a:r>
            <a:r>
              <a:rPr lang="ru-RU" dirty="0"/>
              <a:t> - быстрая память в компьютере, хранящая данные в нескольких уровнях (</a:t>
            </a:r>
            <a:r>
              <a:rPr lang="en" dirty="0"/>
              <a:t>L1, L2, L3).</a:t>
            </a:r>
          </a:p>
          <a:p>
            <a:pPr marL="0" indent="0">
              <a:buNone/>
            </a:pPr>
            <a:r>
              <a:rPr lang="ru-RU" dirty="0"/>
              <a:t>Данные читаются и записываются блоками с использованием тегов для их местоположения.</a:t>
            </a:r>
          </a:p>
          <a:p>
            <a:pPr marL="0" indent="0">
              <a:buNone/>
            </a:pPr>
            <a:r>
              <a:rPr lang="ru-RU" dirty="0"/>
              <a:t>Поиск данных начинается с </a:t>
            </a:r>
            <a:r>
              <a:rPr lang="en" dirty="0"/>
              <a:t>L1, </a:t>
            </a:r>
            <a:r>
              <a:rPr lang="ru-RU" dirty="0"/>
              <a:t>затем </a:t>
            </a:r>
            <a:r>
              <a:rPr lang="en" dirty="0"/>
              <a:t>L2, L3 </a:t>
            </a:r>
            <a:r>
              <a:rPr lang="ru-RU" dirty="0"/>
              <a:t>и так далее, пока не будут найдены.</a:t>
            </a:r>
          </a:p>
          <a:p>
            <a:pPr marL="0" indent="0">
              <a:buNone/>
            </a:pPr>
            <a:r>
              <a:rPr lang="ru-RU" dirty="0"/>
              <a:t>Если данные отсутствуют в кэше, они записываются для будущего быстрого доступа.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73054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05B5A6-5FED-7848-0B73-BD805CAC7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Попадание в кэш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3F19D4-7035-8708-5839-F730E8E6B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Попадание в кэш описывает ситуацию, когда содержимое успешно обслуживается из кэша. </a:t>
            </a:r>
          </a:p>
          <a:p>
            <a:r>
              <a:rPr lang="ru-RU" dirty="0"/>
              <a:t>Быстрый поиск тегов в памяти.</a:t>
            </a:r>
          </a:p>
          <a:p>
            <a:r>
              <a:rPr lang="ru-RU" dirty="0"/>
              <a:t>Найденные данные считаются успешным попаданием в кэш.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80529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8A332-A99C-962F-7C51-653A9F11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Кэша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4EDCFF-92D6-DB46-D7D1-8BCEF7B58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Горячий кэш - это самая быстрая память, в которой данные читаются с максимальной скоростью, например, из </a:t>
            </a:r>
            <a:r>
              <a:rPr lang="en" dirty="0"/>
              <a:t>L1.</a:t>
            </a:r>
          </a:p>
          <a:p>
            <a:r>
              <a:rPr lang="ru-RU" dirty="0"/>
              <a:t>Холодный кэш - это медленная память, где данные читаются с более низкой скоростью, такая как </a:t>
            </a:r>
            <a:r>
              <a:rPr lang="en" dirty="0"/>
              <a:t>L3 </a:t>
            </a:r>
            <a:r>
              <a:rPr lang="ru-RU" dirty="0"/>
              <a:t>или ниже.</a:t>
            </a:r>
          </a:p>
          <a:p>
            <a:r>
              <a:rPr lang="ru-RU" dirty="0"/>
              <a:t>Теплый кэш находится между горячим и холодным кэшем, например, в </a:t>
            </a:r>
            <a:r>
              <a:rPr lang="en" dirty="0"/>
              <a:t>L2 </a:t>
            </a:r>
            <a:r>
              <a:rPr lang="ru-RU" dirty="0"/>
              <a:t>или </a:t>
            </a:r>
            <a:r>
              <a:rPr lang="en" dirty="0"/>
              <a:t>L3, </a:t>
            </a:r>
            <a:r>
              <a:rPr lang="ru-RU" dirty="0"/>
              <a:t>и обеспечивает среднюю скорость чтения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6433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F05CA-7884-97C2-BF2E-7BDA3441D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Промах кэша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F119FC-43E8-4566-5B7B-3A6B8F8D1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Данные не найдены в памяти, поэтому они передаются и записываются в кэш.</a:t>
            </a:r>
            <a:br>
              <a:rPr lang="ru-RU" dirty="0"/>
            </a:b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6205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F87073-419A-3D16-06FB-3C8909F8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Инвалидация</a:t>
            </a:r>
            <a:r>
              <a:rPr lang="ru-RU" dirty="0"/>
              <a:t> кэша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EFF1A2-EC82-D273-0477-1C7BB76F5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Инвалидация</a:t>
            </a:r>
            <a:r>
              <a:rPr lang="ru-RU" b="1" dirty="0"/>
              <a:t> кэша </a:t>
            </a:r>
            <a:r>
              <a:rPr lang="ru-RU" dirty="0"/>
              <a:t>- процесс удаления или замены недействительных записей в кэше компьютерной системы. Это важно для поддержания согласованного поведения приложений при изменении данных.</a:t>
            </a:r>
            <a:br>
              <a:rPr lang="ru-RU" dirty="0"/>
            </a:b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21461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3CC42-D21B-EB86-7723-6663B656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Кэш с прямой записью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996DEE2-903A-F090-7298-0566C80F9D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1300" y="4013200"/>
            <a:ext cx="9169400" cy="28448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E5EAD-C748-D2A8-5ADC-7FAEB36157B0}"/>
              </a:ext>
            </a:extLst>
          </p:cNvPr>
          <p:cNvSpPr txBox="1"/>
          <p:nvPr/>
        </p:nvSpPr>
        <p:spPr>
          <a:xfrm>
            <a:off x="838201" y="1690688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Данные записываются одновременно в кэш и соответствующую базу данных.</a:t>
            </a:r>
          </a:p>
          <a:p>
            <a:r>
              <a:rPr lang="ru-RU" sz="2400" b="1" dirty="0"/>
              <a:t>Плюсы</a:t>
            </a:r>
            <a:r>
              <a:rPr lang="ru-RU" sz="2400" dirty="0"/>
              <a:t>: Быстрое извлечение, полное соответствие данных между кэшем и хранилищем.</a:t>
            </a:r>
          </a:p>
          <a:p>
            <a:r>
              <a:rPr lang="ru-RU" sz="2400" b="1" dirty="0"/>
              <a:t>Минусы</a:t>
            </a:r>
            <a:r>
              <a:rPr lang="ru-RU" sz="2400" dirty="0"/>
              <a:t>: Высокая задержка при операциях записи.</a:t>
            </a:r>
          </a:p>
        </p:txBody>
      </p:sp>
    </p:spTree>
    <p:extLst>
      <p:ext uri="{BB962C8B-B14F-4D97-AF65-F5344CB8AC3E}">
        <p14:creationId xmlns:p14="http://schemas.microsoft.com/office/powerpoint/2010/main" val="26544731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3CC42-D21B-EB86-7723-6663B656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Кэш с прямой записью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E5EAD-C748-D2A8-5ADC-7FAEB36157B0}"/>
              </a:ext>
            </a:extLst>
          </p:cNvPr>
          <p:cNvSpPr txBox="1"/>
          <p:nvPr/>
        </p:nvSpPr>
        <p:spPr>
          <a:xfrm>
            <a:off x="838200" y="1690688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Прямая запись в базу данных обходит кэш.</a:t>
            </a:r>
          </a:p>
          <a:p>
            <a:r>
              <a:rPr lang="ru-RU" sz="2400" b="1" dirty="0"/>
              <a:t>Плюсы: </a:t>
            </a:r>
            <a:r>
              <a:rPr lang="ru-RU" sz="2400" dirty="0"/>
              <a:t>Уменьшает задержку.</a:t>
            </a:r>
          </a:p>
          <a:p>
            <a:r>
              <a:rPr lang="ru-RU" sz="2400" b="1" dirty="0"/>
              <a:t>Минусы: </a:t>
            </a:r>
            <a:r>
              <a:rPr lang="ru-RU" sz="2400" dirty="0"/>
              <a:t>Увеличивает промахи кэша, требует чтения из базы данных при промахе кэша, что может увеличить время чтения из-за медленного бэк-энд хранилища.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0C0E15CC-F8C6-8840-91FA-2BFA121C2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6212" y="3429000"/>
            <a:ext cx="7019576" cy="3429000"/>
          </a:xfrm>
        </p:spPr>
      </p:pic>
    </p:spTree>
    <p:extLst>
      <p:ext uri="{BB962C8B-B14F-4D97-AF65-F5344CB8AC3E}">
        <p14:creationId xmlns:p14="http://schemas.microsoft.com/office/powerpoint/2010/main" val="8236058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1C3B1-CDCC-906B-4721-755A26BDE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Кэш с отложенной записью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0C7D8D2-6DAE-E636-C01C-159693135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1300" y="4197300"/>
            <a:ext cx="9169400" cy="28448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A371BA-D390-5F71-44A5-CE05310CD234}"/>
              </a:ext>
            </a:extLst>
          </p:cNvPr>
          <p:cNvSpPr txBox="1"/>
          <p:nvPr/>
        </p:nvSpPr>
        <p:spPr>
          <a:xfrm>
            <a:off x="838200" y="1690688"/>
            <a:ext cx="1051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Запись происходит в слое кэширования, подтверждаясь после завершения записи в кэше. Кэш асинхронно синхронизирует данные с базой данных.</a:t>
            </a:r>
          </a:p>
          <a:p>
            <a:r>
              <a:rPr lang="ru-RU" sz="2400" b="1" dirty="0"/>
              <a:t>Плюсы: </a:t>
            </a:r>
            <a:r>
              <a:rPr lang="ru-RU" sz="2400" dirty="0"/>
              <a:t>Уменьшение задержек и высокая пропускная способность для приложений с интенсивной записью.</a:t>
            </a:r>
          </a:p>
          <a:p>
            <a:r>
              <a:rPr lang="ru-RU" sz="2400" b="1" dirty="0"/>
              <a:t>Минусы: </a:t>
            </a:r>
            <a:r>
              <a:rPr lang="ru-RU" sz="2400" dirty="0"/>
              <a:t>Риск потери данных при сбое кэша. Улучшение возможно с несколькими репликами, подтверждающими запись в кэш.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836664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8651ED-FD0B-7687-1DA2-33CBE9E48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Популярные политики вытеснения кэша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D4E13-0DB2-39FD-635D-02453251A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Первым Пришёл — Первым Ушёл (</a:t>
            </a:r>
            <a:r>
              <a:rPr lang="en" b="1" dirty="0"/>
              <a:t>FIFO)</a:t>
            </a:r>
            <a:r>
              <a:rPr lang="en" dirty="0">
                <a:effectLst/>
              </a:rPr>
              <a:t> </a:t>
            </a:r>
            <a:r>
              <a:rPr lang="en" dirty="0"/>
              <a:t>: </a:t>
            </a:r>
            <a:r>
              <a:rPr lang="ru-RU" dirty="0"/>
              <a:t>Кэш вытесняет первый доступный блок без учёта того, насколько часто или сколько раз он был доступен ранее.</a:t>
            </a:r>
          </a:p>
          <a:p>
            <a:r>
              <a:rPr lang="ru-RU" dirty="0">
                <a:effectLst/>
              </a:rPr>
              <a:t> </a:t>
            </a:r>
            <a:r>
              <a:rPr lang="ru-RU" b="1" dirty="0"/>
              <a:t>Последним Пришёл — Первым Ушёл (</a:t>
            </a:r>
            <a:r>
              <a:rPr lang="en" b="1" dirty="0"/>
              <a:t>LIFO)</a:t>
            </a:r>
            <a:r>
              <a:rPr lang="en" dirty="0">
                <a:effectLst/>
              </a:rPr>
              <a:t> </a:t>
            </a:r>
            <a:r>
              <a:rPr lang="en" dirty="0"/>
              <a:t>: </a:t>
            </a:r>
            <a:r>
              <a:rPr lang="ru-RU" dirty="0"/>
              <a:t>Кэш вытесняет последний доступный блок без учёта того, насколько часто или сколько раз он был доступен ранее.</a:t>
            </a:r>
          </a:p>
          <a:p>
            <a:r>
              <a:rPr lang="ru-RU" dirty="0">
                <a:effectLst/>
              </a:rPr>
              <a:t> </a:t>
            </a:r>
            <a:r>
              <a:rPr lang="ru-RU" b="1" dirty="0"/>
              <a:t>Наименее Недавно Использованные (</a:t>
            </a:r>
            <a:r>
              <a:rPr lang="en" b="1" dirty="0"/>
              <a:t>LRU)</a:t>
            </a:r>
            <a:r>
              <a:rPr lang="en" dirty="0">
                <a:effectLst/>
              </a:rPr>
              <a:t> </a:t>
            </a:r>
            <a:r>
              <a:rPr lang="en" dirty="0"/>
              <a:t>: </a:t>
            </a:r>
            <a:r>
              <a:rPr lang="ru-RU" dirty="0"/>
              <a:t>Удаляет первыми элементы, которые использовались наименее недавно.</a:t>
            </a:r>
          </a:p>
          <a:p>
            <a:r>
              <a:rPr lang="ru-RU" dirty="0">
                <a:effectLst/>
              </a:rPr>
              <a:t> </a:t>
            </a:r>
            <a:r>
              <a:rPr lang="ru-RU" b="1" dirty="0"/>
              <a:t>Наиболее Недавно Использованные (</a:t>
            </a:r>
            <a:r>
              <a:rPr lang="en" b="1" dirty="0"/>
              <a:t>MRU)</a:t>
            </a:r>
            <a:r>
              <a:rPr lang="en" dirty="0">
                <a:effectLst/>
              </a:rPr>
              <a:t> </a:t>
            </a:r>
            <a:r>
              <a:rPr lang="en" dirty="0"/>
              <a:t>: </a:t>
            </a:r>
            <a:r>
              <a:rPr lang="ru-RU" dirty="0"/>
              <a:t>В отличие от </a:t>
            </a:r>
            <a:r>
              <a:rPr lang="en" dirty="0"/>
              <a:t>LRU, </a:t>
            </a:r>
            <a:r>
              <a:rPr lang="ru-RU" dirty="0"/>
              <a:t>первыми удаляет наиболее недавно использованные элементы.</a:t>
            </a:r>
          </a:p>
          <a:p>
            <a:r>
              <a:rPr lang="ru-RU" dirty="0">
                <a:effectLst/>
              </a:rPr>
              <a:t> </a:t>
            </a:r>
            <a:r>
              <a:rPr lang="ru-RU" b="1" dirty="0"/>
              <a:t>Наименее Часто Использованные (</a:t>
            </a:r>
            <a:r>
              <a:rPr lang="en" b="1" dirty="0"/>
              <a:t>LFU)</a:t>
            </a:r>
            <a:r>
              <a:rPr lang="en" dirty="0">
                <a:effectLst/>
              </a:rPr>
              <a:t> </a:t>
            </a:r>
            <a:r>
              <a:rPr lang="en" dirty="0"/>
              <a:t>: </a:t>
            </a:r>
            <a:r>
              <a:rPr lang="ru-RU" dirty="0"/>
              <a:t>Подсчитывает, насколько часто требуется элемент. Те, которые используются наименее часто, удаляются первыми.</a:t>
            </a:r>
          </a:p>
          <a:p>
            <a:r>
              <a:rPr lang="ru-RU" dirty="0">
                <a:effectLst/>
              </a:rPr>
              <a:t> </a:t>
            </a:r>
            <a:r>
              <a:rPr lang="ru-RU" b="1" dirty="0"/>
              <a:t>Случайная Замена (</a:t>
            </a:r>
            <a:r>
              <a:rPr lang="en" b="1" dirty="0"/>
              <a:t>RR)</a:t>
            </a:r>
            <a:r>
              <a:rPr lang="en" dirty="0">
                <a:effectLst/>
              </a:rPr>
              <a:t> </a:t>
            </a:r>
            <a:r>
              <a:rPr lang="en" dirty="0"/>
              <a:t>: </a:t>
            </a:r>
            <a:r>
              <a:rPr lang="ru-RU" dirty="0"/>
              <a:t>Случайным образом выбирает кандидата на удаление и удаляет его для освобождения места при необходимости.</a:t>
            </a:r>
          </a:p>
        </p:txBody>
      </p:sp>
    </p:spTree>
    <p:extLst>
      <p:ext uri="{BB962C8B-B14F-4D97-AF65-F5344CB8AC3E}">
        <p14:creationId xmlns:p14="http://schemas.microsoft.com/office/powerpoint/2010/main" val="26764828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A4719A-EC38-D4BC-6721-9B76C97D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Распределённый Кэш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4AB80CF-1B78-92A8-4A82-FDF06FED4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9689" y="2506662"/>
            <a:ext cx="6632622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1B1AA3-A226-F3F7-6AE2-A15AD272B420}"/>
              </a:ext>
            </a:extLst>
          </p:cNvPr>
          <p:cNvSpPr txBox="1"/>
          <p:nvPr/>
        </p:nvSpPr>
        <p:spPr>
          <a:xfrm>
            <a:off x="838200" y="1513211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Распределённый кэш объединяет оперативную память нескольких компьютеров для быстрого доступа к данным, превосходя традиционные кэши, которые ограничены одним сервером или устройством.</a:t>
            </a:r>
          </a:p>
        </p:txBody>
      </p:sp>
    </p:spTree>
    <p:extLst>
      <p:ext uri="{BB962C8B-B14F-4D97-AF65-F5344CB8AC3E}">
        <p14:creationId xmlns:p14="http://schemas.microsoft.com/office/powerpoint/2010/main" val="34519844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383CE0-497C-24B6-A6F7-6D7798DD6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Глобальный Кэш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7EFE716-B50A-67A9-BCA9-4DD0EAD99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9689" y="2506662"/>
            <a:ext cx="6632622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6D4F69-A6CA-C1B3-AC5B-2B07FDD3E9AA}"/>
              </a:ext>
            </a:extLst>
          </p:cNvPr>
          <p:cNvSpPr txBox="1"/>
          <p:nvPr/>
        </p:nvSpPr>
        <p:spPr>
          <a:xfrm>
            <a:off x="838201" y="1729343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Общий кэш для всех узлов. Если данные не в кэше, он найдет их в основном хранилище.</a:t>
            </a:r>
          </a:p>
        </p:txBody>
      </p:sp>
    </p:spTree>
    <p:extLst>
      <p:ext uri="{BB962C8B-B14F-4D97-AF65-F5344CB8AC3E}">
        <p14:creationId xmlns:p14="http://schemas.microsoft.com/office/powerpoint/2010/main" val="31109835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20D9A6-5C36-8133-0AFB-7891A6A7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Примеры использования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D5A783-5F2B-6AF1-0563-FFA54C734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Кэширование баз данных</a:t>
            </a:r>
          </a:p>
          <a:p>
            <a:r>
              <a:rPr lang="ru-RU" dirty="0"/>
              <a:t>Сеть доставки контента (</a:t>
            </a:r>
            <a:r>
              <a:rPr lang="en" dirty="0"/>
              <a:t>CDN)</a:t>
            </a:r>
          </a:p>
          <a:p>
            <a:r>
              <a:rPr lang="ru-RU" dirty="0"/>
              <a:t>Кэширование системы доменных имён (</a:t>
            </a:r>
            <a:r>
              <a:rPr lang="en" dirty="0"/>
              <a:t>DNS)</a:t>
            </a:r>
          </a:p>
          <a:p>
            <a:r>
              <a:rPr lang="ru-RU" dirty="0"/>
              <a:t>Кэширование </a:t>
            </a:r>
            <a:r>
              <a:rPr lang="en" dirty="0"/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37088952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5A3598-9D78-EB54-67B9-FA73A685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Когда не использовать кэширование?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1C990A-A6F4-73D9-5B7C-BEECEB444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Если доступ к кэшу занимает столько же времени, сколько и доступ к основному хранилищу данных.</a:t>
            </a:r>
          </a:p>
          <a:p>
            <a:r>
              <a:rPr lang="ru-RU" dirty="0"/>
              <a:t>При низком повторении запросов, так как эффективность кэширования зависит от повторяющихся паттернов доступа.</a:t>
            </a:r>
          </a:p>
          <a:p>
            <a:r>
              <a:rPr lang="ru-RU" dirty="0"/>
              <a:t>Если данные часто изменяются, так как кэшированная версия может выйти из синхронизации с основным хранилищем.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Кэш не следует использовать как постоянное хранилище данных, так как он реализуется в летучей памяти для повышения скорости доступа.</a:t>
            </a:r>
          </a:p>
        </p:txBody>
      </p:sp>
    </p:spTree>
    <p:extLst>
      <p:ext uri="{BB962C8B-B14F-4D97-AF65-F5344CB8AC3E}">
        <p14:creationId xmlns:p14="http://schemas.microsoft.com/office/powerpoint/2010/main" val="35843727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6D6DE3-40E5-95E3-B5CC-44CA6D076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Преимущества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03616B-6B38-F2A3-092A-80D1A6C6B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Повышение производительности</a:t>
            </a:r>
          </a:p>
          <a:p>
            <a:r>
              <a:rPr lang="ru-RU" dirty="0"/>
              <a:t>Снижение задержек</a:t>
            </a:r>
          </a:p>
          <a:p>
            <a:r>
              <a:rPr lang="ru-RU" dirty="0"/>
              <a:t>Уменьшение нагрузки на базу данных</a:t>
            </a:r>
          </a:p>
          <a:p>
            <a:r>
              <a:rPr lang="ru-RU" dirty="0"/>
              <a:t>Снижение сетевых затрат</a:t>
            </a:r>
          </a:p>
          <a:p>
            <a:r>
              <a:rPr lang="ru-RU" dirty="0"/>
              <a:t>Увеличение пропускной способности чтения</a:t>
            </a:r>
          </a:p>
        </p:txBody>
      </p:sp>
    </p:spTree>
    <p:extLst>
      <p:ext uri="{BB962C8B-B14F-4D97-AF65-F5344CB8AC3E}">
        <p14:creationId xmlns:p14="http://schemas.microsoft.com/office/powerpoint/2010/main" val="30763381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881D24D-65E6-82EA-F46A-BFA80913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Повышение отзывчивости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D8DB872-3FA2-2495-4DB1-83C2BA3BC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62850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5EE4735-5417-436E-2383-BAEBD4C4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Кэширование данных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2C645B5-3D70-B9C8-6160-35A4A4CE0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Эффективность кэширования базируется на предположениях, что:</a:t>
            </a:r>
          </a:p>
          <a:p>
            <a:pPr lvl="1"/>
            <a:r>
              <a:rPr lang="ru-RU" dirty="0"/>
              <a:t>Более вероятно, что новые обращения будут происходить к недавним данным</a:t>
            </a:r>
          </a:p>
          <a:p>
            <a:pPr lvl="1"/>
            <a:r>
              <a:rPr lang="ru-RU" dirty="0"/>
              <a:t>Большая часть нагрузки приходится на малую часть запросов (принцип Парето 80 — 20)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D63F1DF-8B46-8761-8071-FA6EC233E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63982"/>
            <a:ext cx="7772400" cy="269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382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87618-705F-E500-CC84-FE0A0BCC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</a:t>
            </a:r>
            <a:r>
              <a:rPr lang="ru-RU" dirty="0">
                <a:effectLst/>
              </a:rPr>
              <a:t>асполагаться на практически любом из уровней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455F30-CADA-E76A-3397-D4378304B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запрос к </a:t>
            </a:r>
            <a:r>
              <a:rPr lang="ru-RU" dirty="0" err="1"/>
              <a:t>фронтенду</a:t>
            </a:r>
            <a:r>
              <a:rPr lang="ru-RU" dirty="0"/>
              <a:t> отдаем уже собранную страницу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Для запрос на вычисления предоставляем сразу готовый ответ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Для данных используем </a:t>
            </a:r>
            <a:r>
              <a:rPr lang="en" dirty="0"/>
              <a:t>RAM </a:t>
            </a:r>
            <a:r>
              <a:rPr lang="ru-RU" dirty="0"/>
              <a:t>вместо </a:t>
            </a:r>
            <a:r>
              <a:rPr lang="en" dirty="0"/>
              <a:t>SSD, SSD </a:t>
            </a:r>
            <a:r>
              <a:rPr lang="ru-RU" dirty="0"/>
              <a:t>вместо </a:t>
            </a:r>
            <a:r>
              <a:rPr lang="en" dirty="0"/>
              <a:t>HDD </a:t>
            </a:r>
            <a:r>
              <a:rPr lang="ru-RU" dirty="0"/>
              <a:t>и </a:t>
            </a:r>
            <a:r>
              <a:rPr lang="en" dirty="0"/>
              <a:t>HDD </a:t>
            </a:r>
            <a:r>
              <a:rPr lang="ru-RU" dirty="0" err="1"/>
              <a:t>вместосети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D1E3DF-87E7-9B5F-32DA-E6B9B2588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024454"/>
            <a:ext cx="7772400" cy="228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503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0FEBA-718A-2E47-8A4A-2DE2FD4D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effectLst/>
              </a:rPr>
              <a:t>Инвалидация</a:t>
            </a:r>
            <a:r>
              <a:rPr lang="ru-RU" dirty="0">
                <a:effectLst/>
              </a:rPr>
              <a:t> кэша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F15BEC6-7E63-1555-C7A6-8EDE5D1A6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3183" y="1825625"/>
            <a:ext cx="6885633" cy="4351338"/>
          </a:xfrm>
        </p:spPr>
      </p:pic>
    </p:spTree>
    <p:extLst>
      <p:ext uri="{BB962C8B-B14F-4D97-AF65-F5344CB8AC3E}">
        <p14:creationId xmlns:p14="http://schemas.microsoft.com/office/powerpoint/2010/main" val="3175114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BA879-C8F3-1FB5-85C2-FCFAB36E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Сквозная запись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F2575BC-71C6-7C04-573E-B5B0F0773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798" y="3877208"/>
            <a:ext cx="9296400" cy="2260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5A4614-911C-C254-A31A-53E08EB0D5E3}"/>
              </a:ext>
            </a:extLst>
          </p:cNvPr>
          <p:cNvSpPr txBox="1"/>
          <p:nvPr/>
        </p:nvSpPr>
        <p:spPr>
          <a:xfrm>
            <a:off x="838199" y="1990641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Данные сразу записываются и в источник, и в кэш</a:t>
            </a:r>
            <a:r>
              <a:rPr lang="en" sz="2400" dirty="0"/>
              <a:t>a.</a:t>
            </a:r>
          </a:p>
          <a:p>
            <a:r>
              <a:rPr lang="ru-RU" sz="2400" b="1" dirty="0"/>
              <a:t>Плюсы: </a:t>
            </a:r>
            <a:r>
              <a:rPr lang="ru-RU" sz="2400" dirty="0"/>
              <a:t>гарантированная </a:t>
            </a:r>
            <a:r>
              <a:rPr lang="ru-RU" sz="2400" dirty="0" err="1"/>
              <a:t>консистентность</a:t>
            </a:r>
            <a:r>
              <a:rPr lang="ru-RU" sz="2400" dirty="0"/>
              <a:t>, минимизация потерь.</a:t>
            </a:r>
          </a:p>
          <a:p>
            <a:r>
              <a:rPr lang="ru-RU" sz="2400" b="1" dirty="0"/>
              <a:t>Минусы: </a:t>
            </a:r>
            <a:r>
              <a:rPr lang="ru-RU" sz="2400" dirty="0"/>
              <a:t>запись становится даже медленнее из-за двух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35270038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BA879-C8F3-1FB5-85C2-FCFAB36E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Запись в обход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A4614-911C-C254-A31A-53E08EB0D5E3}"/>
              </a:ext>
            </a:extLst>
          </p:cNvPr>
          <p:cNvSpPr txBox="1"/>
          <p:nvPr/>
        </p:nvSpPr>
        <p:spPr>
          <a:xfrm>
            <a:off x="838199" y="1990641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</a:t>
            </a:r>
            <a:r>
              <a:rPr lang="ru-RU" sz="2400" dirty="0">
                <a:effectLst/>
              </a:rPr>
              <a:t>анные записываются напрямую в источник</a:t>
            </a:r>
            <a:r>
              <a:rPr lang="en" sz="2400" dirty="0">
                <a:effectLst/>
              </a:rPr>
              <a:t>a</a:t>
            </a:r>
            <a:endParaRPr lang="ru-RU" sz="2400" dirty="0">
              <a:effectLst/>
            </a:endParaRPr>
          </a:p>
          <a:p>
            <a:r>
              <a:rPr lang="ru-RU" sz="2400" b="1" dirty="0"/>
              <a:t>Плюсы: </a:t>
            </a:r>
            <a:r>
              <a:rPr lang="ru-RU" sz="2400" dirty="0"/>
              <a:t>не нагружаем кэш записью невостребованных данных</a:t>
            </a:r>
            <a:endParaRPr lang="en" sz="2400" dirty="0"/>
          </a:p>
          <a:p>
            <a:r>
              <a:rPr lang="ru-RU" sz="2400" b="1" dirty="0"/>
              <a:t>Минусы: </a:t>
            </a:r>
            <a:r>
              <a:rPr lang="ru-RU" sz="2400" dirty="0"/>
              <a:t>для недавних данных считывать нечего, идем в источник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621A72E-14AE-7B26-3E6C-050DF33A3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498" y="3190970"/>
            <a:ext cx="9271000" cy="3708400"/>
          </a:xfrm>
        </p:spPr>
      </p:pic>
    </p:spTree>
    <p:extLst>
      <p:ext uri="{BB962C8B-B14F-4D97-AF65-F5344CB8AC3E}">
        <p14:creationId xmlns:p14="http://schemas.microsoft.com/office/powerpoint/2010/main" val="36755181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BA879-C8F3-1FB5-85C2-FCFAB36E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Реверсивная запись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A4614-911C-C254-A31A-53E08EB0D5E3}"/>
              </a:ext>
            </a:extLst>
          </p:cNvPr>
          <p:cNvSpPr txBox="1"/>
          <p:nvPr/>
        </p:nvSpPr>
        <p:spPr>
          <a:xfrm>
            <a:off x="838199" y="1990641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Данные сначала записываются в кэш</a:t>
            </a:r>
            <a:r>
              <a:rPr lang="en" sz="2400" dirty="0"/>
              <a:t>a.</a:t>
            </a:r>
          </a:p>
          <a:p>
            <a:r>
              <a:rPr lang="ru-RU" sz="2400" b="1" dirty="0"/>
              <a:t>Плюсы: </a:t>
            </a:r>
            <a:r>
              <a:rPr lang="ru-RU" sz="2400" dirty="0"/>
              <a:t>низкие задержки и высокая пропускная способность на запись</a:t>
            </a:r>
          </a:p>
          <a:p>
            <a:r>
              <a:rPr lang="ru-RU" sz="2400" b="1" dirty="0"/>
              <a:t>Минусы: </a:t>
            </a:r>
            <a:r>
              <a:rPr lang="ru-RU" sz="2400" dirty="0"/>
              <a:t>можно потерять недавние данные, не продублированные </a:t>
            </a:r>
            <a:r>
              <a:rPr lang="ru-RU" sz="2400" dirty="0" err="1"/>
              <a:t>висточник</a:t>
            </a:r>
            <a:endParaRPr lang="ru-RU" sz="2400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0C4C1473-5D26-61AE-0A76-AA1842055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798" y="4414213"/>
            <a:ext cx="9296400" cy="2184400"/>
          </a:xfrm>
        </p:spPr>
      </p:pic>
    </p:spTree>
    <p:extLst>
      <p:ext uri="{BB962C8B-B14F-4D97-AF65-F5344CB8AC3E}">
        <p14:creationId xmlns:p14="http://schemas.microsoft.com/office/powerpoint/2010/main" val="4023524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762C2-3E23-66B8-F2A6-961F2E838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Вытеснение данных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05F2BC-498B-E1EA-420C-1212515E6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" b="1" dirty="0"/>
              <a:t>First In First Out (FIFO): </a:t>
            </a:r>
            <a:r>
              <a:rPr lang="ru-RU" dirty="0"/>
              <a:t>удаляем самые давние записи несмотря на </a:t>
            </a:r>
            <a:r>
              <a:rPr lang="ru-RU" dirty="0" err="1"/>
              <a:t>ихпопулярность</a:t>
            </a:r>
            <a:endParaRPr lang="ru-RU" dirty="0"/>
          </a:p>
          <a:p>
            <a:r>
              <a:rPr lang="en" b="1" dirty="0"/>
              <a:t>Last In First Out (LIFO): </a:t>
            </a:r>
            <a:r>
              <a:rPr lang="ru-RU" dirty="0"/>
              <a:t>удаляем самые свежие записи несмотря на </a:t>
            </a:r>
            <a:r>
              <a:rPr lang="ru-RU" dirty="0" err="1"/>
              <a:t>ихпопулярность</a:t>
            </a:r>
            <a:endParaRPr lang="ru-RU" dirty="0"/>
          </a:p>
          <a:p>
            <a:r>
              <a:rPr lang="en" b="1" dirty="0"/>
              <a:t>Least Recently Used (LRU): </a:t>
            </a:r>
            <a:r>
              <a:rPr lang="ru-RU" dirty="0"/>
              <a:t>удаляем записи, не использованные </a:t>
            </a:r>
            <a:r>
              <a:rPr lang="ru-RU" dirty="0" err="1"/>
              <a:t>дольшевсего</a:t>
            </a:r>
            <a:endParaRPr lang="ru-RU" dirty="0"/>
          </a:p>
          <a:p>
            <a:r>
              <a:rPr lang="en" b="1" dirty="0"/>
              <a:t>Most Recently Used (MRU): </a:t>
            </a:r>
            <a:r>
              <a:rPr lang="ru-RU" dirty="0"/>
              <a:t>удаляем самые недавние из </a:t>
            </a:r>
            <a:r>
              <a:rPr lang="ru-RU" dirty="0" err="1"/>
              <a:t>использованныхзаписей</a:t>
            </a:r>
            <a:endParaRPr lang="ru-RU" dirty="0"/>
          </a:p>
          <a:p>
            <a:r>
              <a:rPr lang="en" b="1" dirty="0"/>
              <a:t>Least Frequently Used (LFU): </a:t>
            </a:r>
            <a:r>
              <a:rPr lang="ru-RU" dirty="0"/>
              <a:t>ведем счет обращений, удаляем </a:t>
            </a:r>
            <a:r>
              <a:rPr lang="ru-RU" dirty="0" err="1"/>
              <a:t>самыенепопулярные</a:t>
            </a:r>
            <a:endParaRPr lang="ru-RU" dirty="0"/>
          </a:p>
          <a:p>
            <a:r>
              <a:rPr lang="en" b="1" dirty="0"/>
              <a:t>Random Replacement (RR): </a:t>
            </a:r>
            <a:r>
              <a:rPr lang="ru-RU" dirty="0"/>
              <a:t>удаляем случайно выбранные записи.</a:t>
            </a:r>
          </a:p>
        </p:txBody>
      </p:sp>
    </p:spTree>
    <p:extLst>
      <p:ext uri="{BB962C8B-B14F-4D97-AF65-F5344CB8AC3E}">
        <p14:creationId xmlns:p14="http://schemas.microsoft.com/office/powerpoint/2010/main" val="6612969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0F51F7-35B9-E95D-E7DC-EFD17CCA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effectLst/>
              </a:rPr>
              <a:t>Content Delivery Network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A13109-E1E0-0567-95FF-AC2F00B39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dirty="0"/>
              <a:t>CDN – </a:t>
            </a:r>
            <a:r>
              <a:rPr lang="ru-RU" dirty="0"/>
              <a:t>это распределенные хранилища данных для крупных систем, обслуживающих различные регионы и даже весь мир. Используются для хранения и доставки часто запрашиваемых медиа файлов (изображений, звука, видео). При запросе файла </a:t>
            </a:r>
            <a:r>
              <a:rPr lang="en" dirty="0"/>
              <a:t>CDN </a:t>
            </a:r>
            <a:r>
              <a:rPr lang="ru-RU" dirty="0"/>
              <a:t>предоставит его непосредственно, если он доступен локально, иначе обратится к центральным серверам.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0F20B2-B8B4-689F-6091-159478A4F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541364"/>
            <a:ext cx="7772400" cy="195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295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0F51F7-35B9-E95D-E7DC-EFD17CCA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effectLst/>
              </a:rPr>
              <a:t>Content Delivery Network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A13109-E1E0-0567-95FF-AC2F00B39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dirty="0"/>
              <a:t>Netflix </a:t>
            </a:r>
            <a:r>
              <a:rPr lang="ru-RU" dirty="0"/>
              <a:t>предоставляет сервера провайдерам через инициативу </a:t>
            </a:r>
            <a:r>
              <a:rPr lang="en" dirty="0"/>
              <a:t>Open Connect </a:t>
            </a:r>
            <a:r>
              <a:rPr lang="ru-RU" dirty="0"/>
              <a:t>для улучшения опыта пользователей и оптимизации трафика.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ADB71D-0EF3-C839-CAD8-BBCA8E38C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94893"/>
            <a:ext cx="10540580" cy="239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5477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F3A179B-9F26-2F73-E9C7-AFCBC85E0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67" y="5821234"/>
            <a:ext cx="739378" cy="80320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0DB344E-73B4-02C0-2BA1-B9EC1173D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0726" y="5854971"/>
            <a:ext cx="764119" cy="735734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77B270F-05EE-B331-1CAE-4D9E3F294F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/>
              <a:t>Systems Design</a:t>
            </a:r>
            <a:endParaRPr lang="ru-RU" b="1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669607C-8452-539C-1AF7-42EEA0B302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ru-RU" dirty="0"/>
              <a:t>Далее</a:t>
            </a:r>
            <a:r>
              <a:rPr lang="en-US" dirty="0"/>
              <a:t>: </a:t>
            </a:r>
            <a:r>
              <a:rPr lang="ru-RU" dirty="0"/>
              <a:t>Расчет требований для систем</a:t>
            </a:r>
          </a:p>
        </p:txBody>
      </p:sp>
      <p:sp>
        <p:nvSpPr>
          <p:cNvPr id="6" name="Google Shape;1042;p111">
            <a:extLst>
              <a:ext uri="{FF2B5EF4-FFF2-40B4-BE49-F238E27FC236}">
                <a16:creationId xmlns:a16="http://schemas.microsoft.com/office/drawing/2014/main" id="{70D20243-053E-C5CC-0E02-15D5B7942524}"/>
              </a:ext>
            </a:extLst>
          </p:cNvPr>
          <p:cNvSpPr txBox="1"/>
          <p:nvPr/>
        </p:nvSpPr>
        <p:spPr>
          <a:xfrm>
            <a:off x="7712766" y="5960438"/>
            <a:ext cx="4155868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733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ml-system-</a:t>
            </a:r>
            <a:r>
              <a:rPr lang="en-US" sz="1733" dirty="0" err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design.ru</a:t>
            </a:r>
            <a:r>
              <a:rPr lang="ru-RU" sz="1733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733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| </a:t>
            </a:r>
            <a:r>
              <a:rPr lang="ru-RU" sz="1733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Мазаев Артемий</a:t>
            </a:r>
            <a:endParaRPr sz="1467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4354</TotalTime>
  <Words>2066</Words>
  <Application>Microsoft Macintosh PowerPoint</Application>
  <PresentationFormat>Широкоэкранный</PresentationFormat>
  <Paragraphs>233</Paragraphs>
  <Slides>63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63</vt:i4>
      </vt:variant>
    </vt:vector>
  </HeadingPairs>
  <TitlesOfParts>
    <vt:vector size="68" baseType="lpstr">
      <vt:lpstr>Arial</vt:lpstr>
      <vt:lpstr>Calibri</vt:lpstr>
      <vt:lpstr>Calibri Light</vt:lpstr>
      <vt:lpstr>Proxima Nova</vt:lpstr>
      <vt:lpstr>Тема Office</vt:lpstr>
      <vt:lpstr>System Design</vt:lpstr>
      <vt:lpstr>Масштабируемость</vt:lpstr>
      <vt:lpstr>Масштабируемость</vt:lpstr>
      <vt:lpstr>Масштабируемость</vt:lpstr>
      <vt:lpstr>Вертикальное масштабирование</vt:lpstr>
      <vt:lpstr>Горизонтальное масштабирование</vt:lpstr>
      <vt:lpstr>Load Balancer</vt:lpstr>
      <vt:lpstr>Load Balancer</vt:lpstr>
      <vt:lpstr>Load Balancer</vt:lpstr>
      <vt:lpstr>Распределение рабочей нагрузки</vt:lpstr>
      <vt:lpstr>Уровни</vt:lpstr>
      <vt:lpstr>Типы балансировщиков нагрузки:</vt:lpstr>
      <vt:lpstr>Типы балансировщиков нагрузки:</vt:lpstr>
      <vt:lpstr>Типы балансировщиков нагрузки:</vt:lpstr>
      <vt:lpstr>Алгоритмы маршрутизации:</vt:lpstr>
      <vt:lpstr>Преимущества</vt:lpstr>
      <vt:lpstr>Избыточные балансировщики нагрузки</vt:lpstr>
      <vt:lpstr>Функции</vt:lpstr>
      <vt:lpstr>Масштабирование системы</vt:lpstr>
      <vt:lpstr>Масштабирование системы</vt:lpstr>
      <vt:lpstr>Масштабирование системы</vt:lpstr>
      <vt:lpstr>Принцип работы балансировщика нагрузки</vt:lpstr>
      <vt:lpstr>Алгоритм выбора подходящего сервера</vt:lpstr>
      <vt:lpstr>Преимущества балансировщика:</vt:lpstr>
      <vt:lpstr>Распределение данных</vt:lpstr>
      <vt:lpstr>Секционирование данных</vt:lpstr>
      <vt:lpstr>Секционирование данных</vt:lpstr>
      <vt:lpstr>Методы секционирования записей:</vt:lpstr>
      <vt:lpstr>Недостатки</vt:lpstr>
      <vt:lpstr>Избыточность и репликация</vt:lpstr>
      <vt:lpstr>Избыточность</vt:lpstr>
      <vt:lpstr>Избыточность</vt:lpstr>
      <vt:lpstr>Репликация</vt:lpstr>
      <vt:lpstr>Кворум</vt:lpstr>
      <vt:lpstr>Лидер и последователи</vt:lpstr>
      <vt:lpstr>Кэширование данных</vt:lpstr>
      <vt:lpstr>Презентация PowerPoint</vt:lpstr>
      <vt:lpstr>Кэширование</vt:lpstr>
      <vt:lpstr>Кэширование и память</vt:lpstr>
      <vt:lpstr>Попадание в кэш</vt:lpstr>
      <vt:lpstr>Типы Кэша</vt:lpstr>
      <vt:lpstr>Промах кэша</vt:lpstr>
      <vt:lpstr>Инвалидация кэша</vt:lpstr>
      <vt:lpstr>Кэш с прямой записью</vt:lpstr>
      <vt:lpstr>Кэш с прямой записью</vt:lpstr>
      <vt:lpstr>Кэш с отложенной записью</vt:lpstr>
      <vt:lpstr>Популярные политики вытеснения кэша</vt:lpstr>
      <vt:lpstr>Распределённый Кэш</vt:lpstr>
      <vt:lpstr>Глобальный Кэш</vt:lpstr>
      <vt:lpstr>Примеры использования</vt:lpstr>
      <vt:lpstr>Когда не использовать кэширование?</vt:lpstr>
      <vt:lpstr>Преимущества</vt:lpstr>
      <vt:lpstr>Повышение отзывчивости</vt:lpstr>
      <vt:lpstr>Кэширование данных</vt:lpstr>
      <vt:lpstr>Располагаться на практически любом из уровней</vt:lpstr>
      <vt:lpstr>Инвалидация кэша</vt:lpstr>
      <vt:lpstr>Сквозная запись</vt:lpstr>
      <vt:lpstr>Запись в обход</vt:lpstr>
      <vt:lpstr>Реверсивная запись</vt:lpstr>
      <vt:lpstr>Вытеснение данных</vt:lpstr>
      <vt:lpstr>Content Delivery Network</vt:lpstr>
      <vt:lpstr>Content Delivery Network</vt:lpstr>
      <vt:lpstr>Systems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</dc:title>
  <dc:creator>Артемий Мазаев</dc:creator>
  <cp:lastModifiedBy>Артемий Мазаев</cp:lastModifiedBy>
  <cp:revision>13</cp:revision>
  <dcterms:created xsi:type="dcterms:W3CDTF">2024-03-31T11:55:11Z</dcterms:created>
  <dcterms:modified xsi:type="dcterms:W3CDTF">2024-04-04T18:57:46Z</dcterms:modified>
</cp:coreProperties>
</file>